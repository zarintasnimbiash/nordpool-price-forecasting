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Fifteen minutes on a forecasting system for Swedish electricity prices — and the interesting parts are not these numbers. They are the four or five places where I measured something, got an answer I did not expect, and had to change a conclusion I had already written down.</a:t>
            </a:r>
          </a:p>
          <a:p/>
          <a:p>
            <a:r>
              <a:t>The task: every day at eleven, before the Nord Pool auction closes at noon, predict tomorrow's twenty-four hourly prices for the Stockholm zone.</a:t>
            </a:r>
          </a:p>
          <a:p/>
          <a:p>
            <a:r>
              <a:t>Result: MAE of nineteen and a half euros against twenty-six for the best simple rule. Twenty-five percent better, holding in all ten test months. I will spend much of this talk arguing that this number means less than it looks like it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whole problem. Everything else follows from it.</a:t>
            </a:r>
          </a:p>
          <a:p/>
          <a:p>
            <a:r>
              <a:t>The orange line is eleven o'clock. Everything left of it exists; everything right of it does not.</a:t>
            </a:r>
          </a:p>
          <a:p/>
          <a:p>
            <a:r>
              <a:t>The three rows behave differently, and that difference drove the design. Prices are easy — all of today's prices were published at one o'clock yesterday, so a twenty-four hour lag is safe. Weather observations stop dead at eleven. A twenty-four hour lag on an observation would, for tomorrow evening at six, reach a reading taken seven hours after my deadline. That is leakage.</a:t>
            </a:r>
          </a:p>
          <a:p/>
          <a:p>
            <a:r>
              <a:t>The third row took two attempts to get right, and I will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public sources, about one point eight million rows, into local parquet and DuckDB — standing in for cloud storage and BigQuery.</a:t>
            </a:r>
          </a:p>
          <a:p/>
          <a:p>
            <a:r>
              <a:t>The interesting line is the callout. I assumed Nord Pool's API would give me three years. It gives sixty-two days; everything older returns a 401, and the window rolls — I watched its edge move while working.</a:t>
            </a:r>
          </a:p>
          <a:p/>
          <a:p>
            <a:r>
              <a:t>So I added a second source for history. The important part is what came next: I cross-checked them on nineteen thousand overlapping hours. Agreement to four decimal places. That cross-check is what licenses me to trust a free community service for three years of training data.</a:t>
            </a:r>
          </a:p>
          <a:p/>
          <a:p>
            <a:r>
              <a:t>One process point: I found this by calling the API, not by reading the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idea in the project, and I got it wrong first.</a:t>
            </a:r>
          </a:p>
          <a:p/>
          <a:p>
            <a:r>
              <a:t>My original rule: I cannot know tomorrow's weather, therefore it is leakage, therefore exclude it. That sounds right. It is too broad, and it threw away the largest signal available.</a:t>
            </a:r>
          </a:p>
          <a:p/>
          <a:p>
            <a:r>
              <a:t>Only tomorrow's observations are unavailable. A forecast for tomorrow published this morning, before my deadline, is a fact about today. It sat on a server. Using it is not leakage.</a:t>
            </a:r>
          </a:p>
          <a:p/>
          <a:p>
            <a:r>
              <a:t>The measurement: observed weather worth nothing. Forecast weather worth nearly four euros — larger than the model's entire advantage over the baseline at that point.</a:t>
            </a:r>
          </a:p>
          <a:p/>
          <a:p>
            <a:r>
              <a:t>The principle to remember: train on what you will deploy on. Train on perfect weather and the model never learns the field can be wrong. So I needed forecasts as they were issued historically, errors intact.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Seventy features — price history, calendar, and the two kinds of weather.</a:t>
            </a:r>
          </a:p>
          <a:p/>
          <a:p>
            <a:r>
              <a:t>What I want to talk about is the audit, because a leakage bug does not announce itself. It makes your model look better, quietly.</a:t>
            </a:r>
          </a:p>
          <a:p/>
          <a:p>
            <a:r>
              <a:t>Three that happened. Sweden has a twenty-five hour day when the clocks go back; a fixed twenty-four hour lag cannot escape it, landing on the first hour of the same unpublished auction. Three hours in three years — I drop them.</a:t>
            </a:r>
          </a:p>
          <a:p/>
          <a:p>
            <a:r>
              <a:t>Second: I computed "one day earlier" as twenty-four elapsed hours. On a twenty-five hour day that lands at one in the morning, so adding eleven gives noon. The model got an extra hour it would never have had.</a:t>
            </a:r>
          </a:p>
          <a:p/>
          <a:p>
            <a:r>
              <a:t>Third, my favourite: a dropped timezone matched zero of one thousand and eighty-three rows. Every weather column came out empty. No error. Build reported success. That is why the builder now asserts no feature block is entirely null.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describe gradient boosting abstractly — here is what it did on one real hour. Every number read out of the trained model.</a:t>
            </a:r>
          </a:p>
          <a:p/>
          <a:p>
            <a:r>
              <a:t>It starts predicting the same thing for everything: the training average, thirty-nine euros. For this hour, wrong by sixty-six.</a:t>
            </a:r>
          </a:p>
          <a:p/>
          <a:p>
            <a:r>
              <a:t>Then it adds trees. A tree is a chain of yes/no questions. The first asked three: was yesterday's price here below fifty-eight? No — a hundred and eight. Was the southern zone below a hundred and forty? No. Will it be windy in the south tomorrow? Yes. And it says: add two euros.</a:t>
            </a:r>
          </a:p>
          <a:p/>
          <a:p>
            <a:r>
              <a:t>Two, not forty — every tree's answer is multiplied by the learning rate first. That timidity is the trick: one tree jumping the whole distance carries all its own mistakes; two hundred small steps let later trees correct earlier ones.</a:t>
            </a:r>
          </a:p>
          <a:p/>
          <a:p>
            <a:r>
              <a:t>Note the third question is about tomorrow's FORECAST wind — slide four showing up inside the model.</a:t>
            </a:r>
          </a:p>
          <a:p/>
          <a:p>
            <a:r>
              <a:t>Honest note: it finished at a hundred and fourteen, truth was a hundred and four, and the naive rule said a hundred and eight. On this hour the dumb rule won. That is why I picked a real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mistake I made and had to fix.</a:t>
            </a:r>
          </a:p>
          <a:p/>
          <a:p>
            <a:r>
              <a:t>I did the normal thing — train on the first eighty percent, test on the last twenty. Then I looked at what was in those chunks. The test period had double the median price and almost no negative hours. A different market. So my score told me as much about which six months I picked as about the model.</a:t>
            </a:r>
          </a:p>
          <a:p/>
          <a:p>
            <a:r>
              <a:t>The fix is walk-forward: train on everything before, test the next month, roll forward.</a:t>
            </a:r>
          </a:p>
          <a:p/>
          <a:p>
            <a:r>
              <a:t>The number at the bottom proves it mattered. The same simple rule scores fourteen to thirty-six depending on the month. A single split could have proved almost anything.</a:t>
            </a:r>
          </a:p>
          <a:p/>
          <a:p>
            <a:r>
              <a:t>The colours are the discipline: tune on the orange five, freeze, and the green ten are not looked at until nothing is left to decide.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running anything I needed a rule for what counts as an improvement — otherwise you try twenty things, keep the best, and report it as truth.</a:t>
            </a:r>
          </a:p>
          <a:p/>
          <a:p>
            <a:r>
              <a:t>I considered a target — "beat twenty euros" — and rejected it as circular. Any threshold would have been set just under what I already had.</a:t>
            </a:r>
          </a:p>
          <a:p/>
          <a:p>
            <a:r>
              <a:t>Instead: resample the test days with replacement, two thousand times, and see how much the difference wobbles depending on which days you draw. Keep the change only if the interval excludes zero.</a:t>
            </a:r>
          </a:p>
          <a:p/>
          <a:p>
            <a:r>
              <a:t>The critical detail is whole days. Resampling hours would treat seven thousand hours as seven thousand independent observations. They are not — neighbours are ninety-five percent alike. It is closer to three hundred. Hourly resampling would make everything look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scoreboard. Nineteen point five six against twenty-six point two eight.</a:t>
            </a:r>
          </a:p>
          <a:p/>
          <a:p>
            <a:r>
              <a:t>Two things matter more than the headline. It won in all ten months, by eleven to thirty-seven percent — not three lucky months carrying seven bad ones.</a:t>
            </a:r>
          </a:p>
          <a:p/>
          <a:p>
            <a:r>
              <a:t>And the fold spread: one point nine against three point one. The model is steadier than the rule it beats. For something you bid against, that consistency is worth as much as the average.</a:t>
            </a:r>
          </a:p>
          <a:p/>
          <a:p>
            <a:r>
              <a:t>The last row is a negative result I want to show rather than hide. The model is worst at the evening peak, so the obvious fix is separate models per time block. It made things slightly worse — splitting the model splits the training data four ways. That code is still in the repository so the null result stays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 would most want you to push back on.</a:t>
            </a:r>
          </a:p>
          <a:p/>
          <a:p>
            <a:r>
              <a:t>I ran the whole modelling stage, got twenty-five percent, wrote it up. Then I realised the claim was ambiguous. Is that the algorithm, or the feature engineering that any model would have benefited from? Nothing I had done separated the two.</a:t>
            </a:r>
          </a:p>
          <a:p/>
          <a:p>
            <a:r>
              <a:t>So I ran a ridge regression. Same features, folds, discipline. Nineteen point six seven against nineteen point five six — a tenth of a euro, interval spanning zero.</a:t>
            </a:r>
          </a:p>
          <a:p/>
          <a:p>
            <a:r>
              <a:t>Of the six point seven the model gains, six point six is available to a linear model. The value is in the feature engineering, not the algorithm. That is the opposite of where effort usually goes, which is why it was worth measuring rather than assuming.</a:t>
            </a:r>
          </a:p>
          <a:p/>
          <a:p>
            <a:r>
              <a:t>I still ship boosting, but I had to change the argument — not more accurate, more consistent. "It's more accurate" would not have been defensible.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point forecast whose typical miss is a third of the price invites false confidence. So I wanted a range — and I set the standard before running anything: an interval claiming eighty percent and delivering fifty-five is worse than none.</a:t>
            </a:r>
          </a:p>
          <a:p/>
          <a:p>
            <a:r>
              <a:t>First attempt: fifty-eight percent. Under my own bar.</a:t>
            </a:r>
          </a:p>
          <a:p/>
          <a:p>
            <a:r>
              <a:t>The cause was my own bug, and how it hid matters. My early stopping asks whether validation error has stopped improving, measured with mean absolute error — for every model. But MAE is minimised by the median. So I was stopping the ninetieth-percentile model exactly where it was least like a ninetieth percentile. Six lines to fix. Coverage went to seventy.</a:t>
            </a:r>
          </a:p>
          <a:p/>
          <a:p>
            <a:r>
              <a:t>The second problem is not a bug. Quantile regression is overconfident by construction — its quantiles are fitted on data it has already seen. Every model is an optimist about itself.</a:t>
            </a:r>
          </a:p>
          <a:p/>
          <a:p>
            <a:r>
              <a:t>The fix is blunt: stop trusting the interval, measure what it was missing on unseen data, add that back. Eighty point four against a target of eighty.</a:t>
            </a:r>
          </a:p>
          <a:p/>
          <a:p>
            <a:r>
              <a:t>The honest cost is the width — sixty-nine euros against an average price near fifty-nine. But the narrower intervals were narrow by being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 would keep if I could keep only one from validation.</a:t>
            </a:r>
          </a:p>
          <a:p/>
          <a:p>
            <a:r>
              <a:t>I had three separate problems written down. No value on spikes. No value on negative hours. And the interval missing high more than low. Three bullets, three investigations.</a:t>
            </a:r>
          </a:p>
          <a:p/>
          <a:p>
            <a:r>
              <a:t>Then I plotted the signed error — direction, not size — against true price. They are all the same thing.</a:t>
            </a:r>
          </a:p>
          <a:p/>
          <a:p>
            <a:r>
              <a:t>The model over-predicts cheap hours and under-predicts expensive ones. It pulls everything toward the middle. On the fifty-eight hours above two hundred it is under by ninety-eight — not failing to model the spike, actively shrinking it.</a:t>
            </a:r>
          </a:p>
          <a:p/>
          <a:p>
            <a:r>
              <a:t>Two things against myself. I had written that the bias came from trees being unable to predict above their training maximum. I measured it: zero of seven thousand hours ever needed that. My explanation was wrong and I removed it. And I had quoted an aggregate bias of minus four and a half, which is misleading — it averages two opposite biases.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reversals, quickly.</a:t>
            </a:r>
          </a:p>
          <a:p/>
          <a:p>
            <a:r>
              <a:t>In feature engineering I measured the observed-weather columns at plus zero point zero seven, interval spanning zero. Statistically worthless. But I did not delete them — I wrote down "keep them, re-test when the model is stronger." Re-tested, they are worth zero point eight three, interval clear of zero. The decision to wait was right.</a:t>
            </a:r>
          </a:p>
          <a:p/>
          <a:p>
            <a:r>
              <a:t>The box in the middle is what I would take to another project. Permutation said that family was worth zero point four six; removing it cost zero point eight three. Both correct — permutation shuffles one column at a time, so four correlated temperature columns each look useless because the others cover. Group decisions need group ablations.</a:t>
            </a:r>
          </a:p>
          <a:p/>
          <a:p>
            <a:r>
              <a:t>Second: my own exploration found northern wind beats local wind, and I published that. The model leans on local wind five times harder. Both are right — exploration measured observed wind, the model uses a forecast, and on those the zones are tied.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about discipline rather than results.</a:t>
            </a:r>
          </a:p>
          <a:p/>
          <a:p>
            <a:r>
              <a:t>Ten of my seventy features look useless — negative importance. So I ablated them, and dropping them improved my test folds by four tenths of a euro, interval clear of zero. A free improvement to the number I had just presented.</a:t>
            </a:r>
          </a:p>
          <a:p/>
          <a:p>
            <a:r>
              <a:t>I did not take it.</a:t>
            </a:r>
          </a:p>
          <a:p/>
          <a:p>
            <a:r>
              <a:t>First, procedural: I measured that on the reporting folds, which exist so no decision is made using them. "Keep things as they are" costs nothing. "Change something" means the holdout has now influenced the model, and it is no longer a holdout.</a:t>
            </a:r>
          </a:p>
          <a:p/>
          <a:p>
            <a:r>
              <a:t>Second, decisive: the tuning folds — where I AM allowed to decide — disagree in sign. Dropping them there is slightly harmful and not distinguishable from noise.</a:t>
            </a:r>
          </a:p>
          <a:p/>
          <a:p>
            <a:r>
              <a:t>A change that helps in one period and hurts in another is unstable, not an improvement. I would rather report nineteen five six honestly than nineteen fifteen on something that will not replicate.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what is this good for.</a:t>
            </a:r>
          </a:p>
          <a:p/>
          <a:p>
            <a:r>
              <a:t>Look at the top and bottom rows. On negative hours, and on spikes above two hundred euros, the model scores the same as "yesterday's price" — on spikes, fractionally worse. All the value is in the middle three bands.</a:t>
            </a:r>
          </a:p>
          <a:p/>
          <a:p>
            <a:r>
              <a:t>That follows from the shrinkage slide; it is the same fact viewed differently. But it has an operational consequence I would rather say than have you find: if the bidding decision is mostly about extreme hours, this model does not help you. That is a design problem, not a tuning problem.</a:t>
            </a:r>
          </a:p>
          <a:p/>
          <a:p>
            <a:r>
              <a:t>And the last line is the honest framing. Nineteen point five six against an average price of fifty-nine is a miss of a third of the price level. A real improvement on a problem that stays hard.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in the order I would do them.</a:t>
            </a:r>
          </a:p>
          <a:p/>
          <a:p>
            <a:r>
              <a:t>First, the one I would argue for: the next accuracy gain is in attacking the shrinkage, not adding features. That is now measured rather than suspected.</a:t>
            </a:r>
          </a:p>
          <a:p/>
          <a:p>
            <a:r>
              <a:t>Second, the biggest data gap is demand. I have prices and weather and no load or generation at all. ENTSO-E publishes both, free with a token. The fact that one feature carries the model says my feature set is thin on genuinely new information, not thin on transformations of old information.</a:t>
            </a:r>
          </a:p>
          <a:p/>
          <a:p>
            <a:r>
              <a:t>Third, the unresolved rolling-features question, on data neither fold set has seen.</a:t>
            </a:r>
          </a:p>
          <a:p/>
          <a:p>
            <a:r>
              <a:t>Fourth, the decisions that are not mine — the community price source, the public forecast archive, and whether Stockholm alone is the right scope.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takeaways.</a:t>
            </a:r>
          </a:p>
          <a:p/>
          <a:p>
            <a:r>
              <a:t>The deadline is the problem — not the algorithm. Every real decision came from asking what existed at eleven o'clock.</a:t>
            </a:r>
          </a:p>
          <a:p/>
          <a:p>
            <a:r>
              <a:t>A forecast published before the cutoff is not leakage. That distinction was worth more than every modelling choice combined.</a:t>
            </a:r>
          </a:p>
          <a:p/>
          <a:p>
            <a:r>
              <a:t>The feature engineering did the work — a linear model ties the boosting. I would rather tell you that than let twenty-five percent stand as a claim about the algorithm.</a:t>
            </a:r>
          </a:p>
          <a:p/>
          <a:p>
            <a:r>
              <a:t>Every failure here was silent. The 404 endpoint, the timezone matching zero rows, the three-month hole, the intervals at fifty-eight percent. Not one raised an exception. All were caught by asking whether a result was plausible.</a:t>
            </a:r>
          </a:p>
          <a:p/>
          <a:p>
            <a:r>
              <a:t>And I built the measuring apparatus before the models, in separate files. A ruler you can bend to flatter what you are measuring is not a ruler.</a:t>
            </a:r>
          </a:p>
          <a:p/>
          <a:p>
            <a:r>
              <a:t>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this slide — it is preparation.</a:t>
            </a:r>
          </a:p>
          <a:p/>
          <a:p>
            <a:r>
              <a:t>If a question comes that is not here, the honest answer — "I have not measured that, here is what I would run to find out" — is better than an improvised one, and this audience will respect it more.</a:t>
            </a:r>
          </a:p>
          <a:p/>
          <a:p>
            <a:r>
              <a:t>Strongest cards if pressed: the ridge control (I tested my own headline claim), the rolling-features decision (I declined a free improvement on principle), and the refuted extrapolation explanation (I published something, measured it, and withdrew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01     OPENING</a:t>
            </a:r>
          </a:p>
        </p:txBody>
      </p:sp>
      <p:sp>
        <p:nvSpPr>
          <p:cNvPr id="3" name="TextBox 2"/>
          <p:cNvSpPr txBox="1"/>
          <p:nvPr/>
        </p:nvSpPr>
        <p:spPr>
          <a:xfrm>
            <a:off x="566928" y="868680"/>
            <a:ext cx="11064240" cy="1097280"/>
          </a:xfrm>
          <a:prstGeom prst="rect">
            <a:avLst/>
          </a:prstGeom>
          <a:noFill/>
        </p:spPr>
        <p:txBody>
          <a:bodyPr wrap="square">
            <a:spAutoFit/>
          </a:bodyPr>
          <a:lstStyle/>
          <a:p>
            <a:pPr algn="l">
              <a:spcAft>
                <a:spcPts val="600"/>
              </a:spcAft>
            </a:pPr>
            <a:r>
              <a:rPr sz="4000" b="1">
                <a:solidFill>
                  <a:srgbClr val="FFFFFF"/>
                </a:solidFill>
                <a:latin typeface="Roboto"/>
              </a:rPr>
              <a:t>Forecasting Swedish day-ahead electricity prices</a:t>
            </a:r>
          </a:p>
        </p:txBody>
      </p:sp>
      <p:sp>
        <p:nvSpPr>
          <p:cNvPr id="4" name="TextBox 3"/>
          <p:cNvSpPr txBox="1"/>
          <p:nvPr/>
        </p:nvSpPr>
        <p:spPr>
          <a:xfrm>
            <a:off x="566928" y="1920240"/>
            <a:ext cx="10607040" cy="914400"/>
          </a:xfrm>
          <a:prstGeom prst="rect">
            <a:avLst/>
          </a:prstGeom>
          <a:noFill/>
        </p:spPr>
        <p:txBody>
          <a:bodyPr wrap="square">
            <a:spAutoFit/>
          </a:bodyPr>
          <a:lstStyle/>
          <a:p>
            <a:pPr algn="l">
              <a:spcAft>
                <a:spcPts val="600"/>
              </a:spcAft>
            </a:pPr>
            <a:r>
              <a:rPr sz="1700" b="0">
                <a:solidFill>
                  <a:srgbClr val="99A0AB"/>
                </a:solidFill>
                <a:latin typeface="Roboto"/>
              </a:rPr>
              <a:t>Predicting 24 hourly prices for bidding area SE3, one day ahead, from a decision made at 11:00 — one hour before the auction closes.</a:t>
            </a:r>
          </a:p>
        </p:txBody>
      </p:sp>
      <p:sp>
        <p:nvSpPr>
          <p:cNvPr id="5" name="Rounded Rectangle 4"/>
          <p:cNvSpPr/>
          <p:nvPr/>
        </p:nvSpPr>
        <p:spPr>
          <a:xfrm>
            <a:off x="566928" y="3200400"/>
            <a:ext cx="26060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3346704"/>
            <a:ext cx="2240280" cy="502920"/>
          </a:xfrm>
          <a:prstGeom prst="rect">
            <a:avLst/>
          </a:prstGeom>
          <a:noFill/>
        </p:spPr>
        <p:txBody>
          <a:bodyPr wrap="square">
            <a:spAutoFit/>
          </a:bodyPr>
          <a:lstStyle/>
          <a:p>
            <a:pPr algn="l"/>
            <a:r>
              <a:rPr sz="2600" b="1">
                <a:solidFill>
                  <a:srgbClr val="3ECF8E"/>
                </a:solidFill>
                <a:latin typeface="Roboto Mono"/>
              </a:rPr>
              <a:t>19.56</a:t>
            </a:r>
          </a:p>
        </p:txBody>
      </p:sp>
      <p:sp>
        <p:nvSpPr>
          <p:cNvPr id="7" name="TextBox 6"/>
          <p:cNvSpPr txBox="1"/>
          <p:nvPr/>
        </p:nvSpPr>
        <p:spPr>
          <a:xfrm>
            <a:off x="786384" y="3858768"/>
            <a:ext cx="2240280" cy="256032"/>
          </a:xfrm>
          <a:prstGeom prst="rect">
            <a:avLst/>
          </a:prstGeom>
          <a:noFill/>
        </p:spPr>
        <p:txBody>
          <a:bodyPr wrap="square">
            <a:spAutoFit/>
          </a:bodyPr>
          <a:lstStyle/>
          <a:p>
            <a:pPr algn="l"/>
            <a:r>
              <a:rPr sz="850" b="1">
                <a:solidFill>
                  <a:srgbClr val="767D88"/>
                </a:solidFill>
                <a:latin typeface="Roboto Mono"/>
              </a:rPr>
              <a:t>MAE, EUR/MWH</a:t>
            </a:r>
          </a:p>
        </p:txBody>
      </p:sp>
      <p:sp>
        <p:nvSpPr>
          <p:cNvPr id="8" name="TextBox 7"/>
          <p:cNvSpPr txBox="1"/>
          <p:nvPr/>
        </p:nvSpPr>
        <p:spPr>
          <a:xfrm>
            <a:off x="786384" y="4114800"/>
            <a:ext cx="2240280" cy="457200"/>
          </a:xfrm>
          <a:prstGeom prst="rect">
            <a:avLst/>
          </a:prstGeom>
          <a:noFill/>
        </p:spPr>
        <p:txBody>
          <a:bodyPr wrap="square">
            <a:spAutoFit/>
          </a:bodyPr>
          <a:lstStyle/>
          <a:p>
            <a:pPr algn="l"/>
            <a:r>
              <a:rPr sz="1000">
                <a:solidFill>
                  <a:srgbClr val="99A0AB"/>
                </a:solidFill>
                <a:latin typeface="Roboto"/>
              </a:rPr>
              <a:t>against 26.28 for the best naive rule</a:t>
            </a:r>
          </a:p>
        </p:txBody>
      </p:sp>
      <p:sp>
        <p:nvSpPr>
          <p:cNvPr id="9" name="Rounded Rectangle 8"/>
          <p:cNvSpPr/>
          <p:nvPr/>
        </p:nvSpPr>
        <p:spPr>
          <a:xfrm>
            <a:off x="3355848" y="3200400"/>
            <a:ext cx="26060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75304" y="3346704"/>
            <a:ext cx="2240280" cy="502920"/>
          </a:xfrm>
          <a:prstGeom prst="rect">
            <a:avLst/>
          </a:prstGeom>
          <a:noFill/>
        </p:spPr>
        <p:txBody>
          <a:bodyPr wrap="square">
            <a:spAutoFit/>
          </a:bodyPr>
          <a:lstStyle/>
          <a:p>
            <a:pPr algn="l"/>
            <a:r>
              <a:rPr sz="2600" b="1">
                <a:solidFill>
                  <a:srgbClr val="3ECF8E"/>
                </a:solidFill>
                <a:latin typeface="Roboto Mono"/>
              </a:rPr>
              <a:t>25.6%</a:t>
            </a:r>
          </a:p>
        </p:txBody>
      </p:sp>
      <p:sp>
        <p:nvSpPr>
          <p:cNvPr id="11" name="TextBox 10"/>
          <p:cNvSpPr txBox="1"/>
          <p:nvPr/>
        </p:nvSpPr>
        <p:spPr>
          <a:xfrm>
            <a:off x="3575304" y="3858768"/>
            <a:ext cx="2240280" cy="256032"/>
          </a:xfrm>
          <a:prstGeom prst="rect">
            <a:avLst/>
          </a:prstGeom>
          <a:noFill/>
        </p:spPr>
        <p:txBody>
          <a:bodyPr wrap="square">
            <a:spAutoFit/>
          </a:bodyPr>
          <a:lstStyle/>
          <a:p>
            <a:pPr algn="l"/>
            <a:r>
              <a:rPr sz="850" b="1">
                <a:solidFill>
                  <a:srgbClr val="767D88"/>
                </a:solidFill>
                <a:latin typeface="Roboto Mono"/>
              </a:rPr>
              <a:t>IMPROVEMENT</a:t>
            </a:r>
          </a:p>
        </p:txBody>
      </p:sp>
      <p:sp>
        <p:nvSpPr>
          <p:cNvPr id="12" name="TextBox 11"/>
          <p:cNvSpPr txBox="1"/>
          <p:nvPr/>
        </p:nvSpPr>
        <p:spPr>
          <a:xfrm>
            <a:off x="3575304" y="4114800"/>
            <a:ext cx="2240280" cy="457200"/>
          </a:xfrm>
          <a:prstGeom prst="rect">
            <a:avLst/>
          </a:prstGeom>
          <a:noFill/>
        </p:spPr>
        <p:txBody>
          <a:bodyPr wrap="square">
            <a:spAutoFit/>
          </a:bodyPr>
          <a:lstStyle/>
          <a:p>
            <a:pPr algn="l"/>
            <a:r>
              <a:rPr sz="1000">
                <a:solidFill>
                  <a:srgbClr val="99A0AB"/>
                </a:solidFill>
                <a:latin typeface="Roboto"/>
              </a:rPr>
              <a:t>holds on all 10 of 10 test months</a:t>
            </a:r>
          </a:p>
        </p:txBody>
      </p:sp>
      <p:sp>
        <p:nvSpPr>
          <p:cNvPr id="13" name="Rounded Rectangle 12"/>
          <p:cNvSpPr/>
          <p:nvPr/>
        </p:nvSpPr>
        <p:spPr>
          <a:xfrm>
            <a:off x="6144768" y="3200400"/>
            <a:ext cx="26060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3346704"/>
            <a:ext cx="2240280" cy="502920"/>
          </a:xfrm>
          <a:prstGeom prst="rect">
            <a:avLst/>
          </a:prstGeom>
          <a:noFill/>
        </p:spPr>
        <p:txBody>
          <a:bodyPr wrap="square">
            <a:spAutoFit/>
          </a:bodyPr>
          <a:lstStyle/>
          <a:p>
            <a:pPr algn="l"/>
            <a:r>
              <a:rPr sz="2600" b="1">
                <a:solidFill>
                  <a:srgbClr val="FFFFFF"/>
                </a:solidFill>
                <a:latin typeface="Roboto Mono"/>
              </a:rPr>
              <a:t>80.4%</a:t>
            </a:r>
          </a:p>
        </p:txBody>
      </p:sp>
      <p:sp>
        <p:nvSpPr>
          <p:cNvPr id="15" name="TextBox 14"/>
          <p:cNvSpPr txBox="1"/>
          <p:nvPr/>
        </p:nvSpPr>
        <p:spPr>
          <a:xfrm>
            <a:off x="6364224" y="3858768"/>
            <a:ext cx="2240280" cy="256032"/>
          </a:xfrm>
          <a:prstGeom prst="rect">
            <a:avLst/>
          </a:prstGeom>
          <a:noFill/>
        </p:spPr>
        <p:txBody>
          <a:bodyPr wrap="square">
            <a:spAutoFit/>
          </a:bodyPr>
          <a:lstStyle/>
          <a:p>
            <a:pPr algn="l"/>
            <a:r>
              <a:rPr sz="850" b="1">
                <a:solidFill>
                  <a:srgbClr val="767D88"/>
                </a:solidFill>
                <a:latin typeface="Roboto Mono"/>
              </a:rPr>
              <a:t>INTERVAL COVERAGE</a:t>
            </a:r>
          </a:p>
        </p:txBody>
      </p:sp>
      <p:sp>
        <p:nvSpPr>
          <p:cNvPr id="16" name="TextBox 15"/>
          <p:cNvSpPr txBox="1"/>
          <p:nvPr/>
        </p:nvSpPr>
        <p:spPr>
          <a:xfrm>
            <a:off x="6364224" y="4114800"/>
            <a:ext cx="2240280" cy="457200"/>
          </a:xfrm>
          <a:prstGeom prst="rect">
            <a:avLst/>
          </a:prstGeom>
          <a:noFill/>
        </p:spPr>
        <p:txBody>
          <a:bodyPr wrap="square">
            <a:spAutoFit/>
          </a:bodyPr>
          <a:lstStyle/>
          <a:p>
            <a:pPr algn="l"/>
            <a:r>
              <a:rPr sz="1000">
                <a:solidFill>
                  <a:srgbClr val="99A0AB"/>
                </a:solidFill>
                <a:latin typeface="Roboto"/>
              </a:rPr>
              <a:t>against a stated 80%</a:t>
            </a:r>
          </a:p>
        </p:txBody>
      </p:sp>
      <p:sp>
        <p:nvSpPr>
          <p:cNvPr id="17" name="Rounded Rectangle 16"/>
          <p:cNvSpPr/>
          <p:nvPr/>
        </p:nvSpPr>
        <p:spPr>
          <a:xfrm>
            <a:off x="8933687" y="3200400"/>
            <a:ext cx="26060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53143" y="3346704"/>
            <a:ext cx="2240280" cy="502920"/>
          </a:xfrm>
          <a:prstGeom prst="rect">
            <a:avLst/>
          </a:prstGeom>
          <a:noFill/>
        </p:spPr>
        <p:txBody>
          <a:bodyPr wrap="square">
            <a:spAutoFit/>
          </a:bodyPr>
          <a:lstStyle/>
          <a:p>
            <a:pPr algn="l"/>
            <a:r>
              <a:rPr sz="2600" b="1">
                <a:solidFill>
                  <a:srgbClr val="FFFFFF"/>
                </a:solidFill>
                <a:latin typeface="Roboto Mono"/>
              </a:rPr>
              <a:t>47</a:t>
            </a:r>
          </a:p>
        </p:txBody>
      </p:sp>
      <p:sp>
        <p:nvSpPr>
          <p:cNvPr id="19" name="TextBox 18"/>
          <p:cNvSpPr txBox="1"/>
          <p:nvPr/>
        </p:nvSpPr>
        <p:spPr>
          <a:xfrm>
            <a:off x="9153143" y="3858768"/>
            <a:ext cx="2240280" cy="256032"/>
          </a:xfrm>
          <a:prstGeom prst="rect">
            <a:avLst/>
          </a:prstGeom>
          <a:noFill/>
        </p:spPr>
        <p:txBody>
          <a:bodyPr wrap="square">
            <a:spAutoFit/>
          </a:bodyPr>
          <a:lstStyle/>
          <a:p>
            <a:pPr algn="l"/>
            <a:r>
              <a:rPr sz="850" b="1">
                <a:solidFill>
                  <a:srgbClr val="767D88"/>
                </a:solidFill>
                <a:latin typeface="Roboto Mono"/>
              </a:rPr>
              <a:t>TESTS PASSING</a:t>
            </a:r>
          </a:p>
        </p:txBody>
      </p:sp>
      <p:sp>
        <p:nvSpPr>
          <p:cNvPr id="20" name="TextBox 19"/>
          <p:cNvSpPr txBox="1"/>
          <p:nvPr/>
        </p:nvSpPr>
        <p:spPr>
          <a:xfrm>
            <a:off x="9153143" y="4114800"/>
            <a:ext cx="2240280" cy="457200"/>
          </a:xfrm>
          <a:prstGeom prst="rect">
            <a:avLst/>
          </a:prstGeom>
          <a:noFill/>
        </p:spPr>
        <p:txBody>
          <a:bodyPr wrap="square">
            <a:spAutoFit/>
          </a:bodyPr>
          <a:lstStyle/>
          <a:p>
            <a:pPr algn="l"/>
            <a:r>
              <a:rPr sz="1000">
                <a:solidFill>
                  <a:srgbClr val="99A0AB"/>
                </a:solidFill>
                <a:latin typeface="Roboto"/>
              </a:rPr>
              <a:t>all offline,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02     THE TASK</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The whole problem is one deadline</a:t>
            </a:r>
          </a:p>
        </p:txBody>
      </p:sp>
      <p:sp>
        <p:nvSpPr>
          <p:cNvPr id="4" name="TextBox 3"/>
          <p:cNvSpPr txBox="1"/>
          <p:nvPr/>
        </p:nvSpPr>
        <p:spPr>
          <a:xfrm>
            <a:off x="566928" y="1691640"/>
            <a:ext cx="10607040" cy="914400"/>
          </a:xfrm>
          <a:prstGeom prst="rect">
            <a:avLst/>
          </a:prstGeom>
          <a:noFill/>
        </p:spPr>
        <p:txBody>
          <a:bodyPr wrap="square">
            <a:spAutoFit/>
          </a:bodyPr>
          <a:lstStyle/>
          <a:p>
            <a:pPr algn="l">
              <a:spcAft>
                <a:spcPts val="600"/>
              </a:spcAft>
            </a:pPr>
            <a:r>
              <a:rPr sz="1500" b="0">
                <a:solidFill>
                  <a:srgbClr val="99A0AB"/>
                </a:solidFill>
                <a:latin typeface="Roboto"/>
              </a:rPr>
              <a:t>Every feature must be something that genuinely existed at 11:00. Anything later is leakage — the model scores brilliantly in testing and fails in production.</a:t>
            </a:r>
          </a:p>
        </p:txBody>
      </p:sp>
      <p:sp>
        <p:nvSpPr>
          <p:cNvPr id="5" name="Rectangle 4"/>
          <p:cNvSpPr/>
          <p:nvPr/>
        </p:nvSpPr>
        <p:spPr>
          <a:xfrm>
            <a:off x="960120" y="2514600"/>
            <a:ext cx="2112264" cy="310896"/>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51176"/>
            <a:ext cx="2112264" cy="274320"/>
          </a:xfrm>
          <a:prstGeom prst="rect">
            <a:avLst/>
          </a:prstGeom>
          <a:noFill/>
        </p:spPr>
        <p:txBody>
          <a:bodyPr wrap="square">
            <a:spAutoFit/>
          </a:bodyPr>
          <a:lstStyle/>
          <a:p>
            <a:pPr algn="ctr">
              <a:spcAft>
                <a:spcPts val="600"/>
              </a:spcAft>
            </a:pPr>
            <a:r>
              <a:rPr sz="1100" b="0">
                <a:solidFill>
                  <a:srgbClr val="99A0AB"/>
                </a:solidFill>
                <a:latin typeface="Roboto"/>
              </a:rPr>
              <a:t>day D−1</a:t>
            </a:r>
          </a:p>
        </p:txBody>
      </p:sp>
      <p:sp>
        <p:nvSpPr>
          <p:cNvPr id="7" name="Rectangle 6"/>
          <p:cNvSpPr/>
          <p:nvPr/>
        </p:nvSpPr>
        <p:spPr>
          <a:xfrm>
            <a:off x="3072384" y="2514600"/>
            <a:ext cx="4224527" cy="310896"/>
          </a:xfrm>
          <a:prstGeom prst="rect">
            <a:avLst/>
          </a:prstGeom>
          <a:solidFill>
            <a:srgbClr val="1C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72384" y="2551176"/>
            <a:ext cx="4224527" cy="274320"/>
          </a:xfrm>
          <a:prstGeom prst="rect">
            <a:avLst/>
          </a:prstGeom>
          <a:noFill/>
        </p:spPr>
        <p:txBody>
          <a:bodyPr wrap="square">
            <a:spAutoFit/>
          </a:bodyPr>
          <a:lstStyle/>
          <a:p>
            <a:pPr algn="ctr">
              <a:spcAft>
                <a:spcPts val="600"/>
              </a:spcAft>
            </a:pPr>
            <a:r>
              <a:rPr sz="1100" b="0">
                <a:solidFill>
                  <a:srgbClr val="99A0AB"/>
                </a:solidFill>
                <a:latin typeface="Roboto"/>
              </a:rPr>
              <a:t>day D — today</a:t>
            </a:r>
          </a:p>
        </p:txBody>
      </p:sp>
      <p:sp>
        <p:nvSpPr>
          <p:cNvPr id="9" name="Rectangle 8"/>
          <p:cNvSpPr/>
          <p:nvPr/>
        </p:nvSpPr>
        <p:spPr>
          <a:xfrm>
            <a:off x="7296911" y="2514600"/>
            <a:ext cx="4224528" cy="310896"/>
          </a:xfrm>
          <a:prstGeom prst="rect">
            <a:avLst/>
          </a:prstGeom>
          <a:solidFill>
            <a:srgbClr val="132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96911" y="2551176"/>
            <a:ext cx="4224528" cy="274320"/>
          </a:xfrm>
          <a:prstGeom prst="rect">
            <a:avLst/>
          </a:prstGeom>
          <a:noFill/>
        </p:spPr>
        <p:txBody>
          <a:bodyPr wrap="square">
            <a:spAutoFit/>
          </a:bodyPr>
          <a:lstStyle/>
          <a:p>
            <a:pPr algn="ctr">
              <a:spcAft>
                <a:spcPts val="600"/>
              </a:spcAft>
            </a:pPr>
            <a:r>
              <a:rPr sz="1100" b="0">
                <a:solidFill>
                  <a:srgbClr val="3ECF8E"/>
                </a:solidFill>
                <a:latin typeface="Roboto"/>
              </a:rPr>
              <a:t>day D+1 — what I predict</a:t>
            </a:r>
          </a:p>
        </p:txBody>
      </p:sp>
      <p:sp>
        <p:nvSpPr>
          <p:cNvPr id="11" name="Rectangle 10"/>
          <p:cNvSpPr/>
          <p:nvPr/>
        </p:nvSpPr>
        <p:spPr>
          <a:xfrm>
            <a:off x="960120" y="3127248"/>
            <a:ext cx="10561319" cy="10972"/>
          </a:xfrm>
          <a:prstGeom prst="rect">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15001" y="2852928"/>
            <a:ext cx="32004" cy="278892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3441" y="2542032"/>
            <a:ext cx="2194560" cy="274320"/>
          </a:xfrm>
          <a:prstGeom prst="rect">
            <a:avLst/>
          </a:prstGeom>
          <a:noFill/>
        </p:spPr>
        <p:txBody>
          <a:bodyPr wrap="square">
            <a:spAutoFit/>
          </a:bodyPr>
          <a:lstStyle/>
          <a:p>
            <a:pPr algn="ctr">
              <a:spcAft>
                <a:spcPts val="600"/>
              </a:spcAft>
            </a:pPr>
            <a:r>
              <a:rPr sz="1300" b="1">
                <a:solidFill>
                  <a:srgbClr val="E0A33C"/>
                </a:solidFill>
                <a:latin typeface="Roboto"/>
              </a:rPr>
              <a:t>11:00 CUTOFF</a:t>
            </a:r>
          </a:p>
        </p:txBody>
      </p:sp>
      <p:sp>
        <p:nvSpPr>
          <p:cNvPr id="14" name="TextBox 13"/>
          <p:cNvSpPr txBox="1"/>
          <p:nvPr/>
        </p:nvSpPr>
        <p:spPr>
          <a:xfrm>
            <a:off x="566928" y="3392424"/>
            <a:ext cx="1737360" cy="274320"/>
          </a:xfrm>
          <a:prstGeom prst="rect">
            <a:avLst/>
          </a:prstGeom>
          <a:noFill/>
        </p:spPr>
        <p:txBody>
          <a:bodyPr wrap="square">
            <a:spAutoFit/>
          </a:bodyPr>
          <a:lstStyle/>
          <a:p>
            <a:pPr algn="l">
              <a:spcAft>
                <a:spcPts val="600"/>
              </a:spcAft>
            </a:pPr>
            <a:r>
              <a:rPr sz="1150" b="1">
                <a:solidFill>
                  <a:srgbClr val="D9DCE2"/>
                </a:solidFill>
                <a:latin typeface="Roboto"/>
              </a:rPr>
              <a:t>Prices</a:t>
            </a:r>
          </a:p>
        </p:txBody>
      </p:sp>
      <p:sp>
        <p:nvSpPr>
          <p:cNvPr id="15" name="Rectangle 14"/>
          <p:cNvSpPr/>
          <p:nvPr/>
        </p:nvSpPr>
        <p:spPr>
          <a:xfrm>
            <a:off x="2333091" y="3429000"/>
            <a:ext cx="4963820" cy="201168"/>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1" y="3383280"/>
            <a:ext cx="4773168" cy="292608"/>
          </a:xfrm>
          <a:prstGeom prst="rect">
            <a:avLst/>
          </a:prstGeom>
          <a:noFill/>
        </p:spPr>
        <p:txBody>
          <a:bodyPr wrap="square">
            <a:spAutoFit/>
          </a:bodyPr>
          <a:lstStyle/>
          <a:p>
            <a:pPr algn="l">
              <a:spcAft>
                <a:spcPts val="600"/>
              </a:spcAft>
            </a:pPr>
            <a:r>
              <a:rPr sz="1000" b="0">
                <a:solidFill>
                  <a:srgbClr val="3ECF8E"/>
                </a:solidFill>
                <a:latin typeface="Roboto Mono"/>
              </a:rPr>
              <a:t>all of day D is already published → a 24 h lag is safe</a:t>
            </a:r>
          </a:p>
        </p:txBody>
      </p:sp>
      <p:sp>
        <p:nvSpPr>
          <p:cNvPr id="17" name="TextBox 16"/>
          <p:cNvSpPr txBox="1"/>
          <p:nvPr/>
        </p:nvSpPr>
        <p:spPr>
          <a:xfrm>
            <a:off x="566928" y="3959352"/>
            <a:ext cx="1737360" cy="274320"/>
          </a:xfrm>
          <a:prstGeom prst="rect">
            <a:avLst/>
          </a:prstGeom>
          <a:noFill/>
        </p:spPr>
        <p:txBody>
          <a:bodyPr wrap="square">
            <a:spAutoFit/>
          </a:bodyPr>
          <a:lstStyle/>
          <a:p>
            <a:pPr algn="l">
              <a:spcAft>
                <a:spcPts val="600"/>
              </a:spcAft>
            </a:pPr>
            <a:r>
              <a:rPr sz="1150" b="1">
                <a:solidFill>
                  <a:srgbClr val="D9DCE2"/>
                </a:solidFill>
                <a:latin typeface="Roboto"/>
              </a:rPr>
              <a:t>Weather observed</a:t>
            </a:r>
          </a:p>
        </p:txBody>
      </p:sp>
      <p:sp>
        <p:nvSpPr>
          <p:cNvPr id="18" name="Rectangle 17"/>
          <p:cNvSpPr/>
          <p:nvPr/>
        </p:nvSpPr>
        <p:spPr>
          <a:xfrm>
            <a:off x="2333091" y="3995928"/>
            <a:ext cx="2481910" cy="201168"/>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06441" y="3950208"/>
            <a:ext cx="4937760" cy="292608"/>
          </a:xfrm>
          <a:prstGeom prst="rect">
            <a:avLst/>
          </a:prstGeom>
          <a:noFill/>
        </p:spPr>
        <p:txBody>
          <a:bodyPr wrap="square">
            <a:spAutoFit/>
          </a:bodyPr>
          <a:lstStyle/>
          <a:p>
            <a:pPr algn="l">
              <a:spcAft>
                <a:spcPts val="600"/>
              </a:spcAft>
            </a:pPr>
            <a:r>
              <a:rPr sz="1000" b="0">
                <a:solidFill>
                  <a:srgbClr val="3ECF8E"/>
                </a:solidFill>
                <a:latin typeface="Roboto Mono"/>
              </a:rPr>
              <a:t>stops dead at the cutoff</a:t>
            </a:r>
          </a:p>
        </p:txBody>
      </p:sp>
      <p:sp>
        <p:nvSpPr>
          <p:cNvPr id="20" name="TextBox 19"/>
          <p:cNvSpPr txBox="1"/>
          <p:nvPr/>
        </p:nvSpPr>
        <p:spPr>
          <a:xfrm>
            <a:off x="566928" y="4526280"/>
            <a:ext cx="1737360" cy="274320"/>
          </a:xfrm>
          <a:prstGeom prst="rect">
            <a:avLst/>
          </a:prstGeom>
          <a:noFill/>
        </p:spPr>
        <p:txBody>
          <a:bodyPr wrap="square">
            <a:spAutoFit/>
          </a:bodyPr>
          <a:lstStyle/>
          <a:p>
            <a:pPr algn="l">
              <a:spcAft>
                <a:spcPts val="600"/>
              </a:spcAft>
            </a:pPr>
            <a:r>
              <a:rPr sz="1150" b="1">
                <a:solidFill>
                  <a:srgbClr val="D9DCE2"/>
                </a:solidFill>
                <a:latin typeface="Roboto"/>
              </a:rPr>
              <a:t>Weather forecast</a:t>
            </a:r>
          </a:p>
        </p:txBody>
      </p:sp>
      <p:sp>
        <p:nvSpPr>
          <p:cNvPr id="21" name="Rectangle 20"/>
          <p:cNvSpPr/>
          <p:nvPr/>
        </p:nvSpPr>
        <p:spPr>
          <a:xfrm>
            <a:off x="7296911" y="4562856"/>
            <a:ext cx="4224528" cy="201168"/>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19471" y="4800600"/>
            <a:ext cx="7223760" cy="274320"/>
          </a:xfrm>
          <a:prstGeom prst="rect">
            <a:avLst/>
          </a:prstGeom>
          <a:noFill/>
        </p:spPr>
        <p:txBody>
          <a:bodyPr wrap="square">
            <a:spAutoFit/>
          </a:bodyPr>
          <a:lstStyle/>
          <a:p>
            <a:pPr algn="l">
              <a:spcAft>
                <a:spcPts val="600"/>
              </a:spcAft>
            </a:pPr>
            <a:r>
              <a:rPr sz="1000" b="0">
                <a:solidFill>
                  <a:srgbClr val="3ECF8E"/>
                </a:solidFill>
                <a:latin typeface="Roboto Mono"/>
              </a:rPr>
              <a:t>issued before the cutoff, describes tomorrow — VALID</a:t>
            </a:r>
          </a:p>
        </p:txBody>
      </p:sp>
      <p:sp>
        <p:nvSpPr>
          <p:cNvPr id="23" name="TextBox 22"/>
          <p:cNvSpPr txBox="1"/>
          <p:nvPr/>
        </p:nvSpPr>
        <p:spPr>
          <a:xfrm>
            <a:off x="566928" y="5230368"/>
            <a:ext cx="10972800" cy="274320"/>
          </a:xfrm>
          <a:prstGeom prst="rect">
            <a:avLst/>
          </a:prstGeom>
          <a:noFill/>
        </p:spPr>
        <p:txBody>
          <a:bodyPr wrap="square">
            <a:spAutoFit/>
          </a:bodyPr>
          <a:lstStyle/>
          <a:p>
            <a:pPr algn="l">
              <a:spcAft>
                <a:spcPts val="600"/>
              </a:spcAft>
            </a:pPr>
            <a:r>
              <a:rPr sz="1100" b="0">
                <a:solidFill>
                  <a:srgbClr val="767D88"/>
                </a:solidFill>
                <a:latin typeface="Roboto Mono"/>
              </a:rPr>
              <a:t>the cutoff sits 13 to 36 hours before the hours being predicted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03     THE DATA</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Four sources, and the one that forced a redesign</a:t>
            </a:r>
          </a:p>
        </p:txBody>
      </p:sp>
      <p:graphicFrame>
        <p:nvGraphicFramePr>
          <p:cNvPr id="4" name="Table 3"/>
          <p:cNvGraphicFramePr>
            <a:graphicFrameLocks noGrp="1"/>
          </p:cNvGraphicFramePr>
          <p:nvPr/>
        </p:nvGraphicFramePr>
        <p:xfrm>
          <a:off x="566928" y="1828800"/>
          <a:ext cx="11064240" cy="1554480"/>
        </p:xfrm>
        <a:graphic>
          <a:graphicData uri="http://schemas.openxmlformats.org/drawingml/2006/table">
            <a:tbl>
              <a:tblPr firstRow="1" bandRow="1">
                <a:tableStyleId>{5C22544A-7EE6-4342-B048-85BDC9FD1C3A}</a:tableStyleId>
              </a:tblPr>
              <a:tblGrid>
                <a:gridCol w="3657600"/>
                <a:gridCol w="4937760"/>
                <a:gridCol w="2468880"/>
              </a:tblGrid>
              <a:tr h="310896">
                <a:tc>
                  <a:txBody>
                    <a:bodyPr/>
                    <a:lstStyle/>
                    <a:p>
                      <a:pPr algn="l"/>
                      <a:r>
                        <a:rPr sz="900" b="1">
                          <a:solidFill>
                            <a:srgbClr val="767D88"/>
                          </a:solidFill>
                          <a:latin typeface="Roboto Mono"/>
                        </a:rPr>
                        <a:t>Source</a:t>
                      </a:r>
                    </a:p>
                  </a:txBody>
                  <a:tcPr marL="91440" marR="91440" marT="27432" marB="27432" anchor="ctr">
                    <a:solidFill>
                      <a:srgbClr val="1C1F23"/>
                    </a:solidFill>
                  </a:tcPr>
                </a:tc>
                <a:tc>
                  <a:txBody>
                    <a:bodyPr/>
                    <a:lstStyle/>
                    <a:p>
                      <a:pPr algn="l"/>
                      <a:r>
                        <a:rPr sz="900" b="1">
                          <a:solidFill>
                            <a:srgbClr val="767D88"/>
                          </a:solidFill>
                          <a:latin typeface="Roboto Mono"/>
                        </a:rPr>
                        <a:t>Role</a:t>
                      </a:r>
                    </a:p>
                  </a:txBody>
                  <a:tcPr marL="91440" marR="91440" marT="27432" marB="27432" anchor="ctr">
                    <a:solidFill>
                      <a:srgbClr val="1C1F23"/>
                    </a:solidFill>
                  </a:tcPr>
                </a:tc>
                <a:tc>
                  <a:txBody>
                    <a:bodyPr/>
                    <a:lstStyle/>
                    <a:p>
                      <a:pPr algn="l"/>
                      <a:r>
                        <a:rPr sz="900" b="1">
                          <a:solidFill>
                            <a:srgbClr val="767D88"/>
                          </a:solidFill>
                          <a:latin typeface="Roboto Mono"/>
                        </a:rPr>
                        <a:t>Rows</a:t>
                      </a:r>
                    </a:p>
                  </a:txBody>
                  <a:tcPr marL="91440" marR="91440" marT="27432" marB="27432" anchor="ctr">
                    <a:solidFill>
                      <a:srgbClr val="1C1F23"/>
                    </a:solidFill>
                  </a:tcPr>
                </a:tc>
              </a:tr>
              <a:tr h="310896">
                <a:tc>
                  <a:txBody>
                    <a:bodyPr/>
                    <a:lstStyle/>
                    <a:p>
                      <a:pPr algn="l"/>
                      <a:r>
                        <a:rPr sz="1200" b="0">
                          <a:solidFill>
                            <a:srgbClr val="D9DCE2"/>
                          </a:solidFill>
                          <a:latin typeface="Roboto"/>
                        </a:rPr>
                        <a:t>elprisetjustnu.se</a:t>
                      </a:r>
                    </a:p>
                  </a:txBody>
                  <a:tcPr marL="91440" marR="91440" marT="27432" marB="27432" anchor="ctr">
                    <a:solidFill>
                      <a:srgbClr val="0D0E10"/>
                    </a:solidFill>
                  </a:tcPr>
                </a:tc>
                <a:tc>
                  <a:txBody>
                    <a:bodyPr/>
                    <a:lstStyle/>
                    <a:p>
                      <a:pPr algn="r"/>
                      <a:r>
                        <a:rPr sz="1200" b="0">
                          <a:solidFill>
                            <a:srgbClr val="D9DCE2"/>
                          </a:solidFill>
                          <a:latin typeface="Roboto Mono"/>
                        </a:rPr>
                        <a:t>three years of historical prices</a:t>
                      </a:r>
                    </a:p>
                  </a:txBody>
                  <a:tcPr marL="91440" marR="91440" marT="27432" marB="27432" anchor="ctr">
                    <a:solidFill>
                      <a:srgbClr val="0D0E10"/>
                    </a:solidFill>
                  </a:tcPr>
                </a:tc>
                <a:tc>
                  <a:txBody>
                    <a:bodyPr/>
                    <a:lstStyle/>
                    <a:p>
                      <a:pPr algn="r"/>
                      <a:r>
                        <a:rPr sz="1200" b="0">
                          <a:solidFill>
                            <a:srgbClr val="D9DCE2"/>
                          </a:solidFill>
                          <a:latin typeface="Roboto Mono"/>
                        </a:rPr>
                        <a:t>197,088</a:t>
                      </a:r>
                    </a:p>
                  </a:txBody>
                  <a:tcPr marL="91440" marR="91440" marT="27432" marB="27432" anchor="ctr">
                    <a:solidFill>
                      <a:srgbClr val="0D0E10"/>
                    </a:solidFill>
                  </a:tcPr>
                </a:tc>
              </a:tr>
              <a:tr h="310896">
                <a:tc>
                  <a:txBody>
                    <a:bodyPr/>
                    <a:lstStyle/>
                    <a:p>
                      <a:pPr algn="l"/>
                      <a:r>
                        <a:rPr sz="1200" b="0">
                          <a:solidFill>
                            <a:srgbClr val="D9DCE2"/>
                          </a:solidFill>
                          <a:latin typeface="Roboto"/>
                        </a:rPr>
                        <a:t>Nord Pool Data Portal</a:t>
                      </a:r>
                    </a:p>
                  </a:txBody>
                  <a:tcPr marL="91440" marR="91440" marT="27432" marB="27432" anchor="ctr">
                    <a:solidFill>
                      <a:srgbClr val="0D0E10"/>
                    </a:solidFill>
                  </a:tcPr>
                </a:tc>
                <a:tc>
                  <a:txBody>
                    <a:bodyPr/>
                    <a:lstStyle/>
                    <a:p>
                      <a:pPr algn="r"/>
                      <a:r>
                        <a:rPr sz="1200" b="0">
                          <a:solidFill>
                            <a:srgbClr val="D9DCE2"/>
                          </a:solidFill>
                          <a:latin typeface="Roboto Mono"/>
                        </a:rPr>
                        <a:t>live daily prices</a:t>
                      </a:r>
                    </a:p>
                  </a:txBody>
                  <a:tcPr marL="91440" marR="91440" marT="27432" marB="27432" anchor="ctr">
                    <a:solidFill>
                      <a:srgbClr val="0D0E10"/>
                    </a:solidFill>
                  </a:tcPr>
                </a:tc>
                <a:tc>
                  <a:txBody>
                    <a:bodyPr/>
                    <a:lstStyle/>
                    <a:p>
                      <a:pPr algn="r"/>
                      <a:r>
                        <a:rPr sz="1200" b="0">
                          <a:solidFill>
                            <a:srgbClr val="D9DCE2"/>
                          </a:solidFill>
                          <a:latin typeface="Roboto Mono"/>
                        </a:rPr>
                        <a:t>19,200</a:t>
                      </a:r>
                    </a:p>
                  </a:txBody>
                  <a:tcPr marL="91440" marR="91440" marT="27432" marB="27432" anchor="ctr">
                    <a:solidFill>
                      <a:srgbClr val="0D0E10"/>
                    </a:solidFill>
                  </a:tcPr>
                </a:tc>
              </a:tr>
              <a:tr h="310896">
                <a:tc>
                  <a:txBody>
                    <a:bodyPr/>
                    <a:lstStyle/>
                    <a:p>
                      <a:pPr algn="l"/>
                      <a:r>
                        <a:rPr sz="1200" b="0">
                          <a:solidFill>
                            <a:srgbClr val="D9DCE2"/>
                          </a:solidFill>
                          <a:latin typeface="Roboto"/>
                        </a:rPr>
                        <a:t>SMHI Open Data</a:t>
                      </a:r>
                    </a:p>
                  </a:txBody>
                  <a:tcPr marL="91440" marR="91440" marT="27432" marB="27432" anchor="ctr">
                    <a:solidFill>
                      <a:srgbClr val="0D0E10"/>
                    </a:solidFill>
                  </a:tcPr>
                </a:tc>
                <a:tc>
                  <a:txBody>
                    <a:bodyPr/>
                    <a:lstStyle/>
                    <a:p>
                      <a:pPr algn="r"/>
                      <a:r>
                        <a:rPr sz="1200" b="0">
                          <a:solidFill>
                            <a:srgbClr val="D9DCE2"/>
                          </a:solidFill>
                          <a:latin typeface="Roboto Mono"/>
                        </a:rPr>
                        <a:t>weather observations</a:t>
                      </a:r>
                    </a:p>
                  </a:txBody>
                  <a:tcPr marL="91440" marR="91440" marT="27432" marB="27432" anchor="ctr">
                    <a:solidFill>
                      <a:srgbClr val="0D0E10"/>
                    </a:solidFill>
                  </a:tcPr>
                </a:tc>
                <a:tc>
                  <a:txBody>
                    <a:bodyPr/>
                    <a:lstStyle/>
                    <a:p>
                      <a:pPr algn="r"/>
                      <a:r>
                        <a:rPr sz="1200" b="0">
                          <a:solidFill>
                            <a:srgbClr val="D9DCE2"/>
                          </a:solidFill>
                          <a:latin typeface="Roboto Mono"/>
                        </a:rPr>
                        <a:t>608,550</a:t>
                      </a:r>
                    </a:p>
                  </a:txBody>
                  <a:tcPr marL="91440" marR="91440" marT="27432" marB="27432" anchor="ctr">
                    <a:solidFill>
                      <a:srgbClr val="0D0E10"/>
                    </a:solidFill>
                  </a:tcPr>
                </a:tc>
              </a:tr>
              <a:tr h="310896">
                <a:tc>
                  <a:txBody>
                    <a:bodyPr/>
                    <a:lstStyle/>
                    <a:p>
                      <a:pPr algn="l"/>
                      <a:r>
                        <a:rPr sz="1200" b="0">
                          <a:solidFill>
                            <a:srgbClr val="3ECF8E"/>
                          </a:solidFill>
                          <a:latin typeface="Roboto"/>
                        </a:rPr>
                        <a:t>Open-Meteo previous-runs</a:t>
                      </a:r>
                    </a:p>
                  </a:txBody>
                  <a:tcPr marL="91440" marR="91440" marT="27432" marB="27432" anchor="ctr">
                    <a:solidFill>
                      <a:srgbClr val="142A22"/>
                    </a:solidFill>
                  </a:tcPr>
                </a:tc>
                <a:tc>
                  <a:txBody>
                    <a:bodyPr/>
                    <a:lstStyle/>
                    <a:p>
                      <a:pPr algn="r"/>
                      <a:r>
                        <a:rPr sz="1200" b="0">
                          <a:solidFill>
                            <a:srgbClr val="3ECF8E"/>
                          </a:solidFill>
                          <a:latin typeface="Roboto Mono"/>
                        </a:rPr>
                        <a:t>archived weather FORECASTS</a:t>
                      </a:r>
                    </a:p>
                  </a:txBody>
                  <a:tcPr marL="91440" marR="91440" marT="27432" marB="27432" anchor="ctr">
                    <a:solidFill>
                      <a:srgbClr val="142A22"/>
                    </a:solidFill>
                  </a:tcPr>
                </a:tc>
                <a:tc>
                  <a:txBody>
                    <a:bodyPr/>
                    <a:lstStyle/>
                    <a:p>
                      <a:pPr algn="r"/>
                      <a:r>
                        <a:rPr sz="1200" b="0">
                          <a:solidFill>
                            <a:srgbClr val="3ECF8E"/>
                          </a:solidFill>
                          <a:latin typeface="Roboto Mono"/>
                        </a:rPr>
                        <a:t>1,009,152</a:t>
                      </a:r>
                    </a:p>
                  </a:txBody>
                  <a:tcPr marL="91440" marR="91440" marT="27432" marB="27432" anchor="ctr">
                    <a:solidFill>
                      <a:srgbClr val="142A22"/>
                    </a:solidFill>
                  </a:tcPr>
                </a:tc>
              </a:tr>
            </a:tbl>
          </a:graphicData>
        </a:graphic>
      </p:graphicFrame>
      <p:sp>
        <p:nvSpPr>
          <p:cNvPr id="5" name="Rectangle 4"/>
          <p:cNvSpPr/>
          <p:nvPr/>
        </p:nvSpPr>
        <p:spPr>
          <a:xfrm>
            <a:off x="566928" y="3977639"/>
            <a:ext cx="41148" cy="137160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8076" y="3977639"/>
            <a:ext cx="11023092" cy="1371600"/>
          </a:xfrm>
          <a:prstGeom prst="rect">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105655"/>
            <a:ext cx="10607040" cy="1188720"/>
          </a:xfrm>
          <a:prstGeom prst="rect">
            <a:avLst/>
          </a:prstGeom>
          <a:noFill/>
        </p:spPr>
        <p:txBody>
          <a:bodyPr wrap="square">
            <a:spAutoFit/>
          </a:bodyPr>
          <a:lstStyle/>
          <a:p>
            <a:pPr algn="l">
              <a:spcAft>
                <a:spcPts val="600"/>
              </a:spcAft>
            </a:pPr>
            <a:r>
              <a:rPr sz="1300" b="0">
                <a:solidFill>
                  <a:srgbClr val="D9DCE2"/>
                </a:solidFill>
                <a:latin typeface="Roboto"/>
              </a:rPr>
              <a:t>The discovery that changed the architecture.  Nord Pool's public API serves a rolling ~62-day window — anything older returns 401, so it could never supply training history. I added a second price source and cross-checked the two on 19,200 overlapping hours:  agreement 0.0000 EUR/MWh, correlation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04     THE IDEA</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The distinction that was worth 3.9 EUR/MWh</a:t>
            </a:r>
          </a:p>
        </p:txBody>
      </p:sp>
      <p:sp>
        <p:nvSpPr>
          <p:cNvPr id="4" name="TextBox 3"/>
          <p:cNvSpPr txBox="1"/>
          <p:nvPr/>
        </p:nvSpPr>
        <p:spPr>
          <a:xfrm>
            <a:off x="566928" y="1691640"/>
            <a:ext cx="10607040" cy="914400"/>
          </a:xfrm>
          <a:prstGeom prst="rect">
            <a:avLst/>
          </a:prstGeom>
          <a:noFill/>
        </p:spPr>
        <p:txBody>
          <a:bodyPr wrap="square">
            <a:spAutoFit/>
          </a:bodyPr>
          <a:lstStyle/>
          <a:p>
            <a:pPr algn="l">
              <a:spcAft>
                <a:spcPts val="600"/>
              </a:spcAft>
            </a:pPr>
            <a:r>
              <a:rPr sz="1500" b="0">
                <a:solidFill>
                  <a:srgbClr val="99A0AB"/>
                </a:solidFill>
                <a:latin typeface="Roboto"/>
              </a:rPr>
              <a:t>Three things get lumped together as "weather". They are not the same, and my first design got this wrong.</a:t>
            </a:r>
          </a:p>
        </p:txBody>
      </p:sp>
      <p:graphicFrame>
        <p:nvGraphicFramePr>
          <p:cNvPr id="5" name="Table 4"/>
          <p:cNvGraphicFramePr>
            <a:graphicFrameLocks noGrp="1"/>
          </p:cNvGraphicFramePr>
          <p:nvPr/>
        </p:nvGraphicFramePr>
        <p:xfrm>
          <a:off x="566928" y="2514600"/>
          <a:ext cx="11064240" cy="1243584"/>
        </p:xfrm>
        <a:graphic>
          <a:graphicData uri="http://schemas.openxmlformats.org/drawingml/2006/table">
            <a:tbl>
              <a:tblPr firstRow="1" bandRow="1">
                <a:tableStyleId>{5C22544A-7EE6-4342-B048-85BDC9FD1C3A}</a:tableStyleId>
              </a:tblPr>
              <a:tblGrid>
                <a:gridCol w="5120640"/>
                <a:gridCol w="1920240"/>
                <a:gridCol w="4023360"/>
              </a:tblGrid>
              <a:tr h="310896">
                <a:tc>
                  <a:txBody>
                    <a:bodyPr/>
                    <a:lstStyle/>
                    <a:p>
                      <a:pPr algn="l"/>
                    </a:p>
                  </a:txBody>
                  <a:tcPr marL="91440" marR="91440" marT="27432" marB="27432" anchor="ctr">
                    <a:solidFill>
                      <a:srgbClr val="1C1F23"/>
                    </a:solidFill>
                  </a:tcPr>
                </a:tc>
                <a:tc>
                  <a:txBody>
                    <a:bodyPr/>
                    <a:lstStyle/>
                    <a:p>
                      <a:pPr algn="l"/>
                      <a:r>
                        <a:rPr sz="900" b="1">
                          <a:solidFill>
                            <a:srgbClr val="767D88"/>
                          </a:solidFill>
                          <a:latin typeface="Roboto Mono"/>
                        </a:rPr>
                        <a:t>Status</a:t>
                      </a:r>
                    </a:p>
                  </a:txBody>
                  <a:tcPr marL="91440" marR="91440" marT="27432" marB="27432" anchor="ctr">
                    <a:solidFill>
                      <a:srgbClr val="1C1F23"/>
                    </a:solidFill>
                  </a:tcPr>
                </a:tc>
                <a:tc>
                  <a:txBody>
                    <a:bodyPr/>
                    <a:lstStyle/>
                    <a:p>
                      <a:pPr algn="l"/>
                      <a:r>
                        <a:rPr sz="900" b="1">
                          <a:solidFill>
                            <a:srgbClr val="767D88"/>
                          </a:solidFill>
                          <a:latin typeface="Roboto Mono"/>
                        </a:rPr>
                        <a:t>Why</a:t>
                      </a:r>
                    </a:p>
                  </a:txBody>
                  <a:tcPr marL="91440" marR="91440" marT="27432" marB="27432" anchor="ctr">
                    <a:solidFill>
                      <a:srgbClr val="1C1F23"/>
                    </a:solidFill>
                  </a:tcPr>
                </a:tc>
              </a:tr>
              <a:tr h="310896">
                <a:tc>
                  <a:txBody>
                    <a:bodyPr/>
                    <a:lstStyle/>
                    <a:p>
                      <a:pPr algn="l"/>
                      <a:r>
                        <a:rPr sz="1200" b="0">
                          <a:solidFill>
                            <a:srgbClr val="D9DCE2"/>
                          </a:solidFill>
                          <a:latin typeface="Roboto"/>
                        </a:rPr>
                        <a:t>Past observed weather, up to 11:00</a:t>
                      </a:r>
                    </a:p>
                  </a:txBody>
                  <a:tcPr marL="91440" marR="91440" marT="27432" marB="27432" anchor="ctr">
                    <a:solidFill>
                      <a:srgbClr val="0D0E10"/>
                    </a:solidFill>
                  </a:tcPr>
                </a:tc>
                <a:tc>
                  <a:txBody>
                    <a:bodyPr/>
                    <a:lstStyle/>
                    <a:p>
                      <a:pPr algn="r"/>
                      <a:r>
                        <a:rPr sz="1200" b="0">
                          <a:solidFill>
                            <a:srgbClr val="D9DCE2"/>
                          </a:solidFill>
                          <a:latin typeface="Roboto Mono"/>
                        </a:rPr>
                        <a:t>VALID</a:t>
                      </a:r>
                    </a:p>
                  </a:txBody>
                  <a:tcPr marL="91440" marR="91440" marT="27432" marB="27432" anchor="ctr">
                    <a:solidFill>
                      <a:srgbClr val="0D0E10"/>
                    </a:solidFill>
                  </a:tcPr>
                </a:tc>
                <a:tc>
                  <a:txBody>
                    <a:bodyPr/>
                    <a:lstStyle/>
                    <a:p>
                      <a:pPr algn="r"/>
                      <a:r>
                        <a:rPr sz="1200" b="0">
                          <a:solidFill>
                            <a:srgbClr val="D9DCE2"/>
                          </a:solidFill>
                          <a:latin typeface="Roboto Mono"/>
                        </a:rPr>
                        <a:t>genuinely available</a:t>
                      </a:r>
                    </a:p>
                  </a:txBody>
                  <a:tcPr marL="91440" marR="91440" marT="27432" marB="27432" anchor="ctr">
                    <a:solidFill>
                      <a:srgbClr val="0D0E10"/>
                    </a:solidFill>
                  </a:tcPr>
                </a:tc>
              </a:tr>
              <a:tr h="310896">
                <a:tc>
                  <a:txBody>
                    <a:bodyPr/>
                    <a:lstStyle/>
                    <a:p>
                      <a:pPr algn="l"/>
                      <a:r>
                        <a:rPr sz="1200" b="0">
                          <a:solidFill>
                            <a:srgbClr val="E0A33C"/>
                          </a:solidFill>
                          <a:latin typeface="Roboto"/>
                        </a:rPr>
                        <a:t>Tomorrow's ACTUAL OBSERVATIONS</a:t>
                      </a:r>
                    </a:p>
                  </a:txBody>
                  <a:tcPr marL="91440" marR="91440" marT="27432" marB="27432" anchor="ctr">
                    <a:solidFill>
                      <a:srgbClr val="2A2114"/>
                    </a:solidFill>
                  </a:tcPr>
                </a:tc>
                <a:tc>
                  <a:txBody>
                    <a:bodyPr/>
                    <a:lstStyle/>
                    <a:p>
                      <a:pPr algn="r"/>
                      <a:r>
                        <a:rPr sz="1200" b="0">
                          <a:solidFill>
                            <a:srgbClr val="E0A33C"/>
                          </a:solidFill>
                          <a:latin typeface="Roboto Mono"/>
                        </a:rPr>
                        <a:t>LEAKAGE</a:t>
                      </a:r>
                    </a:p>
                  </a:txBody>
                  <a:tcPr marL="91440" marR="91440" marT="27432" marB="27432" anchor="ctr">
                    <a:solidFill>
                      <a:srgbClr val="2A2114"/>
                    </a:solidFill>
                  </a:tcPr>
                </a:tc>
                <a:tc>
                  <a:txBody>
                    <a:bodyPr/>
                    <a:lstStyle/>
                    <a:p>
                      <a:pPr algn="r"/>
                      <a:r>
                        <a:rPr sz="1200" b="0">
                          <a:solidFill>
                            <a:srgbClr val="E0A33C"/>
                          </a:solidFill>
                          <a:latin typeface="Roboto Mono"/>
                        </a:rPr>
                        <a:t>only knowable after tomorrow happens</a:t>
                      </a:r>
                    </a:p>
                  </a:txBody>
                  <a:tcPr marL="91440" marR="91440" marT="27432" marB="27432" anchor="ctr">
                    <a:solidFill>
                      <a:srgbClr val="2A2114"/>
                    </a:solidFill>
                  </a:tcPr>
                </a:tc>
              </a:tr>
              <a:tr h="310896">
                <a:tc>
                  <a:txBody>
                    <a:bodyPr/>
                    <a:lstStyle/>
                    <a:p>
                      <a:pPr algn="l"/>
                      <a:r>
                        <a:rPr sz="1200" b="0">
                          <a:solidFill>
                            <a:srgbClr val="3ECF8E"/>
                          </a:solidFill>
                          <a:latin typeface="Roboto"/>
                        </a:rPr>
                        <a:t>A FORECAST for tomorrow, published before 11:00</a:t>
                      </a:r>
                    </a:p>
                  </a:txBody>
                  <a:tcPr marL="91440" marR="91440" marT="27432" marB="27432" anchor="ctr">
                    <a:solidFill>
                      <a:srgbClr val="142A22"/>
                    </a:solidFill>
                  </a:tcPr>
                </a:tc>
                <a:tc>
                  <a:txBody>
                    <a:bodyPr/>
                    <a:lstStyle/>
                    <a:p>
                      <a:pPr algn="r"/>
                      <a:r>
                        <a:rPr sz="1200" b="0">
                          <a:solidFill>
                            <a:srgbClr val="3ECF8E"/>
                          </a:solidFill>
                          <a:latin typeface="Roboto Mono"/>
                        </a:rPr>
                        <a:t>VALID</a:t>
                      </a:r>
                    </a:p>
                  </a:txBody>
                  <a:tcPr marL="91440" marR="91440" marT="27432" marB="27432" anchor="ctr">
                    <a:solidFill>
                      <a:srgbClr val="142A22"/>
                    </a:solidFill>
                  </a:tcPr>
                </a:tc>
                <a:tc>
                  <a:txBody>
                    <a:bodyPr/>
                    <a:lstStyle/>
                    <a:p>
                      <a:pPr algn="r"/>
                      <a:r>
                        <a:rPr sz="1200" b="0">
                          <a:solidFill>
                            <a:srgbClr val="3ECF8E"/>
                          </a:solidFill>
                          <a:latin typeface="Roboto Mono"/>
                        </a:rPr>
                        <a:t>the forecast existed at the cutoff</a:t>
                      </a:r>
                    </a:p>
                  </a:txBody>
                  <a:tcPr marL="91440" marR="91440" marT="27432" marB="27432" anchor="ctr">
                    <a:solidFill>
                      <a:srgbClr val="142A22"/>
                    </a:solidFill>
                  </a:tcPr>
                </a:tc>
              </a:tr>
            </a:tbl>
          </a:graphicData>
        </a:graphic>
      </p:graphicFrame>
      <p:sp>
        <p:nvSpPr>
          <p:cNvPr id="6" name="TextBox 5"/>
          <p:cNvSpPr txBox="1"/>
          <p:nvPr/>
        </p:nvSpPr>
        <p:spPr>
          <a:xfrm>
            <a:off x="566928" y="4114800"/>
            <a:ext cx="11064240" cy="822960"/>
          </a:xfrm>
          <a:prstGeom prst="rect">
            <a:avLst/>
          </a:prstGeom>
          <a:noFill/>
        </p:spPr>
        <p:txBody>
          <a:bodyPr wrap="square">
            <a:spAutoFit/>
          </a:bodyPr>
          <a:lstStyle/>
          <a:p>
            <a:pPr algn="l"/>
            <a:r>
              <a:rPr sz="2600" b="0">
                <a:solidFill>
                  <a:srgbClr val="99A0AB"/>
                </a:solidFill>
                <a:latin typeface="Roboto Mono"/>
              </a:rPr>
              <a:t>observed weather  </a:t>
            </a:r>
            <a:r>
              <a:rPr sz="2600" b="1">
                <a:solidFill>
                  <a:srgbClr val="767D88"/>
                </a:solidFill>
                <a:latin typeface="Roboto Mono"/>
              </a:rPr>
              <a:t>+0.07</a:t>
            </a:r>
            <a:r>
              <a:rPr sz="2600" b="0">
                <a:solidFill>
                  <a:srgbClr val="99A0AB"/>
                </a:solidFill>
                <a:latin typeface="Roboto Mono"/>
              </a:rPr>
              <a:t>        forecast weather  </a:t>
            </a:r>
            <a:r>
              <a:rPr sz="2600" b="1">
                <a:solidFill>
                  <a:srgbClr val="3ECF8E"/>
                </a:solidFill>
                <a:latin typeface="Roboto Mono"/>
              </a:rPr>
              <a:t>+3.89</a:t>
            </a:r>
          </a:p>
        </p:txBody>
      </p:sp>
      <p:sp>
        <p:nvSpPr>
          <p:cNvPr id="7" name="Rectangle 6"/>
          <p:cNvSpPr/>
          <p:nvPr/>
        </p:nvSpPr>
        <p:spPr>
          <a:xfrm>
            <a:off x="566928" y="4892040"/>
            <a:ext cx="41148" cy="1234440"/>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 y="4892040"/>
            <a:ext cx="11023092" cy="1234440"/>
          </a:xfrm>
          <a:prstGeom prst="rect">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020055"/>
            <a:ext cx="10607040" cy="1051560"/>
          </a:xfrm>
          <a:prstGeom prst="rect">
            <a:avLst/>
          </a:prstGeom>
          <a:noFill/>
        </p:spPr>
        <p:txBody>
          <a:bodyPr wrap="square">
            <a:spAutoFit/>
          </a:bodyPr>
          <a:lstStyle/>
          <a:p>
            <a:pPr algn="l">
              <a:spcAft>
                <a:spcPts val="600"/>
              </a:spcAft>
            </a:pPr>
            <a:r>
              <a:rPr sz="1300" b="0">
                <a:solidFill>
                  <a:srgbClr val="D9DCE2"/>
                </a:solidFill>
                <a:latin typeface="Roboto"/>
              </a:rPr>
              <a:t>Train on what you will deploy on.  A model trained on perfect weather never learns to distrust that field, because in training it was never wrong. So the training data must be forecasts including their errors — an archive of forecasts as they were issued, not a re-forecast made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05     FEATURES</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70 features, and an audit that runs on every build</a:t>
            </a:r>
          </a:p>
        </p:txBody>
      </p:sp>
      <p:sp>
        <p:nvSpPr>
          <p:cNvPr id="4" name="Rounded Rectangle 3"/>
          <p:cNvSpPr/>
          <p:nvPr/>
        </p:nvSpPr>
        <p:spPr>
          <a:xfrm>
            <a:off x="566928" y="1783080"/>
            <a:ext cx="2066543"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929384"/>
            <a:ext cx="1700784" cy="502920"/>
          </a:xfrm>
          <a:prstGeom prst="rect">
            <a:avLst/>
          </a:prstGeom>
          <a:noFill/>
        </p:spPr>
        <p:txBody>
          <a:bodyPr wrap="square">
            <a:spAutoFit/>
          </a:bodyPr>
          <a:lstStyle/>
          <a:p>
            <a:pPr algn="l"/>
            <a:r>
              <a:rPr sz="2600" b="1">
                <a:solidFill>
                  <a:srgbClr val="FFFFFF"/>
                </a:solidFill>
                <a:latin typeface="Roboto Mono"/>
              </a:rPr>
              <a:t>10</a:t>
            </a:r>
          </a:p>
        </p:txBody>
      </p:sp>
      <p:sp>
        <p:nvSpPr>
          <p:cNvPr id="6" name="TextBox 5"/>
          <p:cNvSpPr txBox="1"/>
          <p:nvPr/>
        </p:nvSpPr>
        <p:spPr>
          <a:xfrm>
            <a:off x="786384" y="2441448"/>
            <a:ext cx="1700784" cy="256032"/>
          </a:xfrm>
          <a:prstGeom prst="rect">
            <a:avLst/>
          </a:prstGeom>
          <a:noFill/>
        </p:spPr>
        <p:txBody>
          <a:bodyPr wrap="square">
            <a:spAutoFit/>
          </a:bodyPr>
          <a:lstStyle/>
          <a:p>
            <a:pPr algn="l"/>
            <a:r>
              <a:rPr sz="850" b="1">
                <a:solidFill>
                  <a:srgbClr val="767D88"/>
                </a:solidFill>
                <a:latin typeface="Roboto Mono"/>
              </a:rPr>
              <a:t>PRICE LAGS</a:t>
            </a:r>
          </a:p>
        </p:txBody>
      </p:sp>
      <p:sp>
        <p:nvSpPr>
          <p:cNvPr id="7" name="TextBox 6"/>
          <p:cNvSpPr txBox="1"/>
          <p:nvPr/>
        </p:nvSpPr>
        <p:spPr>
          <a:xfrm>
            <a:off x="786384" y="2697480"/>
            <a:ext cx="1700784" cy="457200"/>
          </a:xfrm>
          <a:prstGeom prst="rect">
            <a:avLst/>
          </a:prstGeom>
          <a:noFill/>
        </p:spPr>
        <p:txBody>
          <a:bodyPr wrap="square">
            <a:spAutoFit/>
          </a:bodyPr>
          <a:lstStyle/>
          <a:p>
            <a:pPr algn="l"/>
            <a:r>
              <a:rPr sz="1000">
                <a:solidFill>
                  <a:srgbClr val="99A0AB"/>
                </a:solidFill>
                <a:latin typeface="Roboto"/>
              </a:rPr>
              <a:t>SE3, SE4, SE1 at 24/48/168h</a:t>
            </a:r>
          </a:p>
        </p:txBody>
      </p:sp>
      <p:sp>
        <p:nvSpPr>
          <p:cNvPr id="8" name="Rounded Rectangle 7"/>
          <p:cNvSpPr/>
          <p:nvPr/>
        </p:nvSpPr>
        <p:spPr>
          <a:xfrm>
            <a:off x="2798064" y="1783080"/>
            <a:ext cx="2066543"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929384"/>
            <a:ext cx="1700784" cy="502920"/>
          </a:xfrm>
          <a:prstGeom prst="rect">
            <a:avLst/>
          </a:prstGeom>
          <a:noFill/>
        </p:spPr>
        <p:txBody>
          <a:bodyPr wrap="square">
            <a:spAutoFit/>
          </a:bodyPr>
          <a:lstStyle/>
          <a:p>
            <a:pPr algn="l"/>
            <a:r>
              <a:rPr sz="2600" b="1">
                <a:solidFill>
                  <a:srgbClr val="FFFFFF"/>
                </a:solidFill>
                <a:latin typeface="Roboto Mono"/>
              </a:rPr>
              <a:t>10</a:t>
            </a:r>
          </a:p>
        </p:txBody>
      </p:sp>
      <p:sp>
        <p:nvSpPr>
          <p:cNvPr id="10" name="TextBox 9"/>
          <p:cNvSpPr txBox="1"/>
          <p:nvPr/>
        </p:nvSpPr>
        <p:spPr>
          <a:xfrm>
            <a:off x="3017520" y="2441448"/>
            <a:ext cx="1700784" cy="256032"/>
          </a:xfrm>
          <a:prstGeom prst="rect">
            <a:avLst/>
          </a:prstGeom>
          <a:noFill/>
        </p:spPr>
        <p:txBody>
          <a:bodyPr wrap="square">
            <a:spAutoFit/>
          </a:bodyPr>
          <a:lstStyle/>
          <a:p>
            <a:pPr algn="l"/>
            <a:r>
              <a:rPr sz="850" b="1">
                <a:solidFill>
                  <a:srgbClr val="767D88"/>
                </a:solidFill>
                <a:latin typeface="Roboto Mono"/>
              </a:rPr>
              <a:t>PRICE ROLLING</a:t>
            </a:r>
          </a:p>
        </p:txBody>
      </p:sp>
      <p:sp>
        <p:nvSpPr>
          <p:cNvPr id="11" name="TextBox 10"/>
          <p:cNvSpPr txBox="1"/>
          <p:nvPr/>
        </p:nvSpPr>
        <p:spPr>
          <a:xfrm>
            <a:off x="3017520" y="2697480"/>
            <a:ext cx="1700784" cy="457200"/>
          </a:xfrm>
          <a:prstGeom prst="rect">
            <a:avLst/>
          </a:prstGeom>
          <a:noFill/>
        </p:spPr>
        <p:txBody>
          <a:bodyPr wrap="square">
            <a:spAutoFit/>
          </a:bodyPr>
          <a:lstStyle/>
          <a:p>
            <a:pPr algn="l"/>
            <a:r>
              <a:rPr sz="1000">
                <a:solidFill>
                  <a:srgbClr val="99A0AB"/>
                </a:solidFill>
                <a:latin typeface="Roboto"/>
              </a:rPr>
              <a:t>over the last known day</a:t>
            </a:r>
          </a:p>
        </p:txBody>
      </p:sp>
      <p:sp>
        <p:nvSpPr>
          <p:cNvPr id="12" name="Rounded Rectangle 11"/>
          <p:cNvSpPr/>
          <p:nvPr/>
        </p:nvSpPr>
        <p:spPr>
          <a:xfrm>
            <a:off x="5029200" y="1783080"/>
            <a:ext cx="2066543"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6" y="1929384"/>
            <a:ext cx="1700784" cy="502920"/>
          </a:xfrm>
          <a:prstGeom prst="rect">
            <a:avLst/>
          </a:prstGeom>
          <a:noFill/>
        </p:spPr>
        <p:txBody>
          <a:bodyPr wrap="square">
            <a:spAutoFit/>
          </a:bodyPr>
          <a:lstStyle/>
          <a:p>
            <a:pPr algn="l"/>
            <a:r>
              <a:rPr sz="2600" b="1">
                <a:solidFill>
                  <a:srgbClr val="FFFFFF"/>
                </a:solidFill>
                <a:latin typeface="Roboto Mono"/>
              </a:rPr>
              <a:t>10</a:t>
            </a:r>
          </a:p>
        </p:txBody>
      </p:sp>
      <p:sp>
        <p:nvSpPr>
          <p:cNvPr id="14" name="TextBox 13"/>
          <p:cNvSpPr txBox="1"/>
          <p:nvPr/>
        </p:nvSpPr>
        <p:spPr>
          <a:xfrm>
            <a:off x="5248656" y="2441448"/>
            <a:ext cx="1700784" cy="256032"/>
          </a:xfrm>
          <a:prstGeom prst="rect">
            <a:avLst/>
          </a:prstGeom>
          <a:noFill/>
        </p:spPr>
        <p:txBody>
          <a:bodyPr wrap="square">
            <a:spAutoFit/>
          </a:bodyPr>
          <a:lstStyle/>
          <a:p>
            <a:pPr algn="l"/>
            <a:r>
              <a:rPr sz="850" b="1">
                <a:solidFill>
                  <a:srgbClr val="767D88"/>
                </a:solidFill>
                <a:latin typeface="Roboto Mono"/>
              </a:rPr>
              <a:t>CALENDAR</a:t>
            </a:r>
          </a:p>
        </p:txBody>
      </p:sp>
      <p:sp>
        <p:nvSpPr>
          <p:cNvPr id="15" name="TextBox 14"/>
          <p:cNvSpPr txBox="1"/>
          <p:nvPr/>
        </p:nvSpPr>
        <p:spPr>
          <a:xfrm>
            <a:off x="5248656" y="2697480"/>
            <a:ext cx="1700784" cy="457200"/>
          </a:xfrm>
          <a:prstGeom prst="rect">
            <a:avLst/>
          </a:prstGeom>
          <a:noFill/>
        </p:spPr>
        <p:txBody>
          <a:bodyPr wrap="square">
            <a:spAutoFit/>
          </a:bodyPr>
          <a:lstStyle/>
          <a:p>
            <a:pPr algn="l"/>
            <a:r>
              <a:rPr sz="1000">
                <a:solidFill>
                  <a:srgbClr val="99A0AB"/>
                </a:solidFill>
                <a:latin typeface="Roboto"/>
              </a:rPr>
              <a:t>plain + sine/cosine pairs</a:t>
            </a:r>
          </a:p>
        </p:txBody>
      </p:sp>
      <p:sp>
        <p:nvSpPr>
          <p:cNvPr id="16" name="Rounded Rectangle 15"/>
          <p:cNvSpPr/>
          <p:nvPr/>
        </p:nvSpPr>
        <p:spPr>
          <a:xfrm>
            <a:off x="7260336" y="1783080"/>
            <a:ext cx="2066543"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9792" y="1929384"/>
            <a:ext cx="1700784" cy="502920"/>
          </a:xfrm>
          <a:prstGeom prst="rect">
            <a:avLst/>
          </a:prstGeom>
          <a:noFill/>
        </p:spPr>
        <p:txBody>
          <a:bodyPr wrap="square">
            <a:spAutoFit/>
          </a:bodyPr>
          <a:lstStyle/>
          <a:p>
            <a:pPr algn="l"/>
            <a:r>
              <a:rPr sz="2600" b="1">
                <a:solidFill>
                  <a:srgbClr val="FFFFFF"/>
                </a:solidFill>
                <a:latin typeface="Roboto Mono"/>
              </a:rPr>
              <a:t>24</a:t>
            </a:r>
          </a:p>
        </p:txBody>
      </p:sp>
      <p:sp>
        <p:nvSpPr>
          <p:cNvPr id="18" name="TextBox 17"/>
          <p:cNvSpPr txBox="1"/>
          <p:nvPr/>
        </p:nvSpPr>
        <p:spPr>
          <a:xfrm>
            <a:off x="7479792" y="2441448"/>
            <a:ext cx="1700784" cy="256032"/>
          </a:xfrm>
          <a:prstGeom prst="rect">
            <a:avLst/>
          </a:prstGeom>
          <a:noFill/>
        </p:spPr>
        <p:txBody>
          <a:bodyPr wrap="square">
            <a:spAutoFit/>
          </a:bodyPr>
          <a:lstStyle/>
          <a:p>
            <a:pPr algn="l"/>
            <a:r>
              <a:rPr sz="850" b="1">
                <a:solidFill>
                  <a:srgbClr val="767D88"/>
                </a:solidFill>
                <a:latin typeface="Roboto Mono"/>
              </a:rPr>
              <a:t>WEATHER OBSERVED</a:t>
            </a:r>
          </a:p>
        </p:txBody>
      </p:sp>
      <p:sp>
        <p:nvSpPr>
          <p:cNvPr id="19" name="TextBox 18"/>
          <p:cNvSpPr txBox="1"/>
          <p:nvPr/>
        </p:nvSpPr>
        <p:spPr>
          <a:xfrm>
            <a:off x="7479792" y="2697480"/>
            <a:ext cx="1700784" cy="457200"/>
          </a:xfrm>
          <a:prstGeom prst="rect">
            <a:avLst/>
          </a:prstGeom>
          <a:noFill/>
        </p:spPr>
        <p:txBody>
          <a:bodyPr wrap="square">
            <a:spAutoFit/>
          </a:bodyPr>
          <a:lstStyle/>
          <a:p>
            <a:pPr algn="l"/>
            <a:r>
              <a:rPr sz="1000">
                <a:solidFill>
                  <a:srgbClr val="99A0AB"/>
                </a:solidFill>
                <a:latin typeface="Roboto"/>
              </a:rPr>
              <a:t>24h aggregates at the cutoff</a:t>
            </a:r>
          </a:p>
        </p:txBody>
      </p:sp>
      <p:sp>
        <p:nvSpPr>
          <p:cNvPr id="20" name="Rounded Rectangle 19"/>
          <p:cNvSpPr/>
          <p:nvPr/>
        </p:nvSpPr>
        <p:spPr>
          <a:xfrm>
            <a:off x="9491472" y="1783080"/>
            <a:ext cx="2066543"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10928" y="1929384"/>
            <a:ext cx="1700784" cy="502920"/>
          </a:xfrm>
          <a:prstGeom prst="rect">
            <a:avLst/>
          </a:prstGeom>
          <a:noFill/>
        </p:spPr>
        <p:txBody>
          <a:bodyPr wrap="square">
            <a:spAutoFit/>
          </a:bodyPr>
          <a:lstStyle/>
          <a:p>
            <a:pPr algn="l"/>
            <a:r>
              <a:rPr sz="2600" b="1">
                <a:solidFill>
                  <a:srgbClr val="3ECF8E"/>
                </a:solidFill>
                <a:latin typeface="Roboto Mono"/>
              </a:rPr>
              <a:t>16</a:t>
            </a:r>
          </a:p>
        </p:txBody>
      </p:sp>
      <p:sp>
        <p:nvSpPr>
          <p:cNvPr id="22" name="TextBox 21"/>
          <p:cNvSpPr txBox="1"/>
          <p:nvPr/>
        </p:nvSpPr>
        <p:spPr>
          <a:xfrm>
            <a:off x="9710928" y="2441448"/>
            <a:ext cx="1700784" cy="256032"/>
          </a:xfrm>
          <a:prstGeom prst="rect">
            <a:avLst/>
          </a:prstGeom>
          <a:noFill/>
        </p:spPr>
        <p:txBody>
          <a:bodyPr wrap="square">
            <a:spAutoFit/>
          </a:bodyPr>
          <a:lstStyle/>
          <a:p>
            <a:pPr algn="l"/>
            <a:r>
              <a:rPr sz="850" b="1">
                <a:solidFill>
                  <a:srgbClr val="767D88"/>
                </a:solidFill>
                <a:latin typeface="Roboto Mono"/>
              </a:rPr>
              <a:t>WEATHER FORECAST</a:t>
            </a:r>
          </a:p>
        </p:txBody>
      </p:sp>
      <p:sp>
        <p:nvSpPr>
          <p:cNvPr id="23" name="TextBox 22"/>
          <p:cNvSpPr txBox="1"/>
          <p:nvPr/>
        </p:nvSpPr>
        <p:spPr>
          <a:xfrm>
            <a:off x="9710928" y="2697480"/>
            <a:ext cx="1700784" cy="457200"/>
          </a:xfrm>
          <a:prstGeom prst="rect">
            <a:avLst/>
          </a:prstGeom>
          <a:noFill/>
        </p:spPr>
        <p:txBody>
          <a:bodyPr wrap="square">
            <a:spAutoFit/>
          </a:bodyPr>
          <a:lstStyle/>
          <a:p>
            <a:pPr algn="l"/>
            <a:r>
              <a:rPr sz="1000">
                <a:solidFill>
                  <a:srgbClr val="99A0AB"/>
                </a:solidFill>
                <a:latin typeface="Roboto"/>
              </a:rPr>
              <a:t>for the delivery hour</a:t>
            </a:r>
          </a:p>
        </p:txBody>
      </p:sp>
      <p:sp>
        <p:nvSpPr>
          <p:cNvPr id="24" name="TextBox 23"/>
          <p:cNvSpPr txBox="1"/>
          <p:nvPr/>
        </p:nvSpPr>
        <p:spPr>
          <a:xfrm>
            <a:off x="566928" y="3429000"/>
            <a:ext cx="10607040" cy="914400"/>
          </a:xfrm>
          <a:prstGeom prst="rect">
            <a:avLst/>
          </a:prstGeom>
          <a:noFill/>
        </p:spPr>
        <p:txBody>
          <a:bodyPr wrap="square">
            <a:spAutoFit/>
          </a:bodyPr>
          <a:lstStyle/>
          <a:p>
            <a:pPr algn="l">
              <a:spcAft>
                <a:spcPts val="600"/>
              </a:spcAft>
            </a:pPr>
            <a:r>
              <a:rPr sz="1400" b="0">
                <a:solidFill>
                  <a:srgbClr val="D9DCE2"/>
                </a:solidFill>
                <a:latin typeface="Roboto"/>
              </a:rPr>
              <a:t>The audit refuses to write the table if any feature reaches past the cutoff. It caught three real bugs — none of which crashed anything:</a:t>
            </a:r>
          </a:p>
        </p:txBody>
      </p:sp>
      <p:sp>
        <p:nvSpPr>
          <p:cNvPr id="25" name="TextBox 24"/>
          <p:cNvSpPr txBox="1"/>
          <p:nvPr/>
        </p:nvSpPr>
        <p:spPr>
          <a:xfrm>
            <a:off x="566928" y="4114800"/>
            <a:ext cx="10881360" cy="2606039"/>
          </a:xfrm>
          <a:prstGeom prst="rect">
            <a:avLst/>
          </a:prstGeom>
          <a:noFill/>
        </p:spPr>
        <p:txBody>
          <a:bodyPr wrap="square">
            <a:spAutoFit/>
          </a:bodyPr>
          <a:lstStyle/>
          <a:p>
            <a:pPr algn="l">
              <a:spcAft>
                <a:spcPts val="800"/>
              </a:spcAft>
            </a:pPr>
            <a:r>
              <a:rPr sz="1350" b="0">
                <a:solidFill>
                  <a:srgbClr val="D9DCE2"/>
                </a:solidFill>
                <a:latin typeface="Roboto"/>
              </a:rPr>
              <a:t>A fixed 24-hour lag cannot escape a 25-HOUR DAYLIGHT-SAVING DAY — it lands on the first hour of the same delivery day, a price from the same unpublished auction.</a:t>
            </a:r>
          </a:p>
          <a:p>
            <a:pPr>
              <a:spcAft>
                <a:spcPts val="800"/>
              </a:spcAft>
            </a:pPr>
            <a:r>
              <a:rPr sz="1350" b="0">
                <a:solidFill>
                  <a:srgbClr val="D9DCE2"/>
                </a:solidFill>
                <a:latin typeface="Roboto"/>
              </a:rPr>
              <a:t>"One day earlier" as 24 ELAPSED hours drifted the cutoff to 12:00 on those days, handing the model an extra hour.</a:t>
            </a:r>
          </a:p>
          <a:p>
            <a:pPr>
              <a:spcAft>
                <a:spcPts val="800"/>
              </a:spcAft>
            </a:pPr>
            <a:r>
              <a:rPr sz="1350" b="0">
                <a:solidFill>
                  <a:srgbClr val="D9DCE2"/>
                </a:solidFill>
                <a:latin typeface="Roboto"/>
              </a:rPr>
              <a:t>A dropped timezone made a lookup match 0 OF 1,083 ROWS, filling every weather column with nulls. Silently.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06     THE MODEL</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How the model decides one real hour</a:t>
            </a:r>
          </a:p>
        </p:txBody>
      </p:sp>
      <p:sp>
        <p:nvSpPr>
          <p:cNvPr id="4" name="TextBox 3"/>
          <p:cNvSpPr txBox="1"/>
          <p:nvPr/>
        </p:nvSpPr>
        <p:spPr>
          <a:xfrm>
            <a:off x="566928" y="1645920"/>
            <a:ext cx="10607040" cy="914400"/>
          </a:xfrm>
          <a:prstGeom prst="rect">
            <a:avLst/>
          </a:prstGeom>
          <a:noFill/>
        </p:spPr>
        <p:txBody>
          <a:bodyPr wrap="square">
            <a:spAutoFit/>
          </a:bodyPr>
          <a:lstStyle/>
          <a:p>
            <a:pPr algn="l">
              <a:spcAft>
                <a:spcPts val="600"/>
              </a:spcAft>
            </a:pPr>
            <a:r>
              <a:rPr sz="1500" b="0">
                <a:solidFill>
                  <a:srgbClr val="99A0AB"/>
                </a:solidFill>
                <a:latin typeface="Roboto"/>
              </a:rPr>
              <a:t>Thursday 15 January 2026, 18:00 — evening peak, midwinter. The model had never seen this hour. Actual price: 104.42.</a:t>
            </a:r>
          </a:p>
        </p:txBody>
      </p:sp>
      <p:sp>
        <p:nvSpPr>
          <p:cNvPr id="5" name="Rectangle 4"/>
          <p:cNvSpPr/>
          <p:nvPr/>
        </p:nvSpPr>
        <p:spPr>
          <a:xfrm>
            <a:off x="1234440" y="5577840"/>
            <a:ext cx="9692640" cy="10972"/>
          </a:xfrm>
          <a:prstGeom prst="rect">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34440" y="3157118"/>
            <a:ext cx="9692640" cy="12801"/>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32519" y="2882798"/>
            <a:ext cx="2194560" cy="256032"/>
          </a:xfrm>
          <a:prstGeom prst="rect">
            <a:avLst/>
          </a:prstGeom>
          <a:noFill/>
        </p:spPr>
        <p:txBody>
          <a:bodyPr wrap="square">
            <a:spAutoFit/>
          </a:bodyPr>
          <a:lstStyle/>
          <a:p>
            <a:pPr algn="r">
              <a:spcAft>
                <a:spcPts val="600"/>
              </a:spcAft>
            </a:pPr>
            <a:r>
              <a:rPr sz="1050" b="0">
                <a:solidFill>
                  <a:srgbClr val="E0A33C"/>
                </a:solidFill>
                <a:latin typeface="Roboto Mono"/>
              </a:rPr>
              <a:t>actual 104.42</a:t>
            </a:r>
          </a:p>
        </p:txBody>
      </p:sp>
      <p:sp>
        <p:nvSpPr>
          <p:cNvPr id="8" name="Freeform 7"/>
          <p:cNvSpPr/>
          <p:nvPr/>
        </p:nvSpPr>
        <p:spPr>
          <a:xfrm>
            <a:off x="1234440" y="2817266"/>
            <a:ext cx="9512311" cy="2339645"/>
          </a:xfrm>
          <a:custGeom>
            <a:avLst/>
            <a:gdLst/>
            <a:ahLst/>
            <a:cxnLst/>
            <a:rect l="l" t="t" r="r" b="b"/>
            <a:pathLst>
              <a:path w="9512311" h="2339645">
                <a:moveTo>
                  <a:pt x="0" y="2339645"/>
                </a:moveTo>
                <a:lnTo>
                  <a:pt x="45082" y="2278685"/>
                </a:lnTo>
                <a:lnTo>
                  <a:pt x="270492" y="1966265"/>
                </a:lnTo>
                <a:lnTo>
                  <a:pt x="495902" y="1771193"/>
                </a:lnTo>
                <a:lnTo>
                  <a:pt x="721312" y="1581912"/>
                </a:lnTo>
                <a:lnTo>
                  <a:pt x="946722" y="1309726"/>
                </a:lnTo>
                <a:lnTo>
                  <a:pt x="1172133" y="1096670"/>
                </a:lnTo>
                <a:lnTo>
                  <a:pt x="1397543" y="900074"/>
                </a:lnTo>
                <a:lnTo>
                  <a:pt x="1622953" y="740969"/>
                </a:lnTo>
                <a:lnTo>
                  <a:pt x="1848363" y="698297"/>
                </a:lnTo>
                <a:lnTo>
                  <a:pt x="2073774" y="609295"/>
                </a:lnTo>
                <a:lnTo>
                  <a:pt x="2299184" y="543458"/>
                </a:lnTo>
                <a:lnTo>
                  <a:pt x="2524594" y="498653"/>
                </a:lnTo>
                <a:lnTo>
                  <a:pt x="2750004" y="430987"/>
                </a:lnTo>
                <a:lnTo>
                  <a:pt x="2975415" y="382524"/>
                </a:lnTo>
                <a:lnTo>
                  <a:pt x="3200825" y="338633"/>
                </a:lnTo>
                <a:lnTo>
                  <a:pt x="3426235" y="288950"/>
                </a:lnTo>
                <a:lnTo>
                  <a:pt x="3651645" y="277978"/>
                </a:lnTo>
                <a:lnTo>
                  <a:pt x="3877056" y="228905"/>
                </a:lnTo>
                <a:lnTo>
                  <a:pt x="4102466" y="136855"/>
                </a:lnTo>
                <a:lnTo>
                  <a:pt x="4327876" y="53035"/>
                </a:lnTo>
                <a:lnTo>
                  <a:pt x="4553286" y="60960"/>
                </a:lnTo>
                <a:lnTo>
                  <a:pt x="4778696" y="0"/>
                </a:lnTo>
                <a:lnTo>
                  <a:pt x="5004107" y="7620"/>
                </a:lnTo>
                <a:lnTo>
                  <a:pt x="5229517" y="36271"/>
                </a:lnTo>
                <a:lnTo>
                  <a:pt x="5454927" y="60350"/>
                </a:lnTo>
                <a:lnTo>
                  <a:pt x="5680337" y="28041"/>
                </a:lnTo>
                <a:lnTo>
                  <a:pt x="5905748" y="28346"/>
                </a:lnTo>
                <a:lnTo>
                  <a:pt x="6131158" y="12497"/>
                </a:lnTo>
                <a:lnTo>
                  <a:pt x="6356568" y="33223"/>
                </a:lnTo>
                <a:lnTo>
                  <a:pt x="6581978" y="27737"/>
                </a:lnTo>
                <a:lnTo>
                  <a:pt x="6807389" y="67970"/>
                </a:lnTo>
                <a:lnTo>
                  <a:pt x="7032799" y="52426"/>
                </a:lnTo>
                <a:lnTo>
                  <a:pt x="7258209" y="21336"/>
                </a:lnTo>
                <a:lnTo>
                  <a:pt x="7483619" y="28041"/>
                </a:lnTo>
                <a:lnTo>
                  <a:pt x="7709029" y="30785"/>
                </a:lnTo>
                <a:lnTo>
                  <a:pt x="7934440" y="64617"/>
                </a:lnTo>
                <a:lnTo>
                  <a:pt x="8159850" y="64313"/>
                </a:lnTo>
                <a:lnTo>
                  <a:pt x="8385260" y="59741"/>
                </a:lnTo>
                <a:lnTo>
                  <a:pt x="8610670" y="48158"/>
                </a:lnTo>
                <a:lnTo>
                  <a:pt x="8836081" y="54254"/>
                </a:lnTo>
                <a:lnTo>
                  <a:pt x="9061491" y="55473"/>
                </a:lnTo>
                <a:lnTo>
                  <a:pt x="9286901" y="52426"/>
                </a:lnTo>
                <a:lnTo>
                  <a:pt x="9512311" y="41148"/>
                </a:lnTo>
              </a:path>
            </a:pathLst>
          </a:custGeom>
          <a:noFill/>
          <a:ln w="33020">
            <a:solidFill>
              <a:srgbClr val="3EC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58568"/>
            <a:ext cx="658368" cy="237744"/>
          </a:xfrm>
          <a:prstGeom prst="rect">
            <a:avLst/>
          </a:prstGeom>
          <a:noFill/>
        </p:spPr>
        <p:txBody>
          <a:bodyPr wrap="square">
            <a:spAutoFit/>
          </a:bodyPr>
          <a:lstStyle/>
          <a:p>
            <a:pPr algn="r">
              <a:spcAft>
                <a:spcPts val="600"/>
              </a:spcAft>
            </a:pPr>
            <a:r>
              <a:rPr sz="950" b="0">
                <a:solidFill>
                  <a:srgbClr val="767D88"/>
                </a:solidFill>
                <a:latin typeface="Roboto Mono"/>
              </a:rPr>
              <a:t>130</a:t>
            </a:r>
          </a:p>
        </p:txBody>
      </p:sp>
      <p:sp>
        <p:nvSpPr>
          <p:cNvPr id="10" name="TextBox 9"/>
          <p:cNvSpPr txBox="1"/>
          <p:nvPr/>
        </p:nvSpPr>
        <p:spPr>
          <a:xfrm>
            <a:off x="457200" y="3020568"/>
            <a:ext cx="658368" cy="237744"/>
          </a:xfrm>
          <a:prstGeom prst="rect">
            <a:avLst/>
          </a:prstGeom>
          <a:noFill/>
        </p:spPr>
        <p:txBody>
          <a:bodyPr wrap="square">
            <a:spAutoFit/>
          </a:bodyPr>
          <a:lstStyle/>
          <a:p>
            <a:pPr algn="r">
              <a:spcAft>
                <a:spcPts val="600"/>
              </a:spcAft>
            </a:pPr>
            <a:r>
              <a:rPr sz="950" b="0">
                <a:solidFill>
                  <a:srgbClr val="767D88"/>
                </a:solidFill>
                <a:latin typeface="Roboto Mono"/>
              </a:rPr>
              <a:t>105</a:t>
            </a:r>
          </a:p>
        </p:txBody>
      </p:sp>
      <p:sp>
        <p:nvSpPr>
          <p:cNvPr id="11" name="TextBox 10"/>
          <p:cNvSpPr txBox="1"/>
          <p:nvPr/>
        </p:nvSpPr>
        <p:spPr>
          <a:xfrm>
            <a:off x="457200" y="3782567"/>
            <a:ext cx="658368" cy="237744"/>
          </a:xfrm>
          <a:prstGeom prst="rect">
            <a:avLst/>
          </a:prstGeom>
          <a:noFill/>
        </p:spPr>
        <p:txBody>
          <a:bodyPr wrap="square">
            <a:spAutoFit/>
          </a:bodyPr>
          <a:lstStyle/>
          <a:p>
            <a:pPr algn="r">
              <a:spcAft>
                <a:spcPts val="600"/>
              </a:spcAft>
            </a:pPr>
            <a:r>
              <a:rPr sz="950" b="0">
                <a:solidFill>
                  <a:srgbClr val="767D88"/>
                </a:solidFill>
                <a:latin typeface="Roboto Mono"/>
              </a:rPr>
              <a:t>80</a:t>
            </a:r>
          </a:p>
        </p:txBody>
      </p:sp>
      <p:sp>
        <p:nvSpPr>
          <p:cNvPr id="12" name="TextBox 11"/>
          <p:cNvSpPr txBox="1"/>
          <p:nvPr/>
        </p:nvSpPr>
        <p:spPr>
          <a:xfrm>
            <a:off x="457200" y="4544568"/>
            <a:ext cx="658368" cy="237744"/>
          </a:xfrm>
          <a:prstGeom prst="rect">
            <a:avLst/>
          </a:prstGeom>
          <a:noFill/>
        </p:spPr>
        <p:txBody>
          <a:bodyPr wrap="square">
            <a:spAutoFit/>
          </a:bodyPr>
          <a:lstStyle/>
          <a:p>
            <a:pPr algn="r">
              <a:spcAft>
                <a:spcPts val="600"/>
              </a:spcAft>
            </a:pPr>
            <a:r>
              <a:rPr sz="950" b="0">
                <a:solidFill>
                  <a:srgbClr val="767D88"/>
                </a:solidFill>
                <a:latin typeface="Roboto Mono"/>
              </a:rPr>
              <a:t>55</a:t>
            </a:r>
          </a:p>
        </p:txBody>
      </p:sp>
      <p:sp>
        <p:nvSpPr>
          <p:cNvPr id="13" name="TextBox 12"/>
          <p:cNvSpPr txBox="1"/>
          <p:nvPr/>
        </p:nvSpPr>
        <p:spPr>
          <a:xfrm>
            <a:off x="457200" y="5306567"/>
            <a:ext cx="658368" cy="237744"/>
          </a:xfrm>
          <a:prstGeom prst="rect">
            <a:avLst/>
          </a:prstGeom>
          <a:noFill/>
        </p:spPr>
        <p:txBody>
          <a:bodyPr wrap="square">
            <a:spAutoFit/>
          </a:bodyPr>
          <a:lstStyle/>
          <a:p>
            <a:pPr algn="r">
              <a:spcAft>
                <a:spcPts val="600"/>
              </a:spcAft>
            </a:pPr>
            <a:r>
              <a:rPr sz="950" b="0">
                <a:solidFill>
                  <a:srgbClr val="767D88"/>
                </a:solidFill>
                <a:latin typeface="Roboto Mono"/>
              </a:rPr>
              <a:t>30</a:t>
            </a:r>
          </a:p>
        </p:txBody>
      </p:sp>
      <p:sp>
        <p:nvSpPr>
          <p:cNvPr id="14" name="TextBox 13"/>
          <p:cNvSpPr txBox="1"/>
          <p:nvPr/>
        </p:nvSpPr>
        <p:spPr>
          <a:xfrm>
            <a:off x="868680" y="5650992"/>
            <a:ext cx="731520" cy="237744"/>
          </a:xfrm>
          <a:prstGeom prst="rect">
            <a:avLst/>
          </a:prstGeom>
          <a:noFill/>
        </p:spPr>
        <p:txBody>
          <a:bodyPr wrap="square">
            <a:spAutoFit/>
          </a:bodyPr>
          <a:lstStyle/>
          <a:p>
            <a:pPr algn="ctr">
              <a:spcAft>
                <a:spcPts val="600"/>
              </a:spcAft>
            </a:pPr>
            <a:r>
              <a:rPr sz="950" b="0">
                <a:solidFill>
                  <a:srgbClr val="767D88"/>
                </a:solidFill>
                <a:latin typeface="Roboto Mono"/>
              </a:rPr>
              <a:t>0</a:t>
            </a:r>
          </a:p>
        </p:txBody>
      </p:sp>
      <p:sp>
        <p:nvSpPr>
          <p:cNvPr id="15" name="TextBox 14"/>
          <p:cNvSpPr txBox="1"/>
          <p:nvPr/>
        </p:nvSpPr>
        <p:spPr>
          <a:xfrm>
            <a:off x="3122782" y="5650992"/>
            <a:ext cx="731520" cy="237744"/>
          </a:xfrm>
          <a:prstGeom prst="rect">
            <a:avLst/>
          </a:prstGeom>
          <a:noFill/>
        </p:spPr>
        <p:txBody>
          <a:bodyPr wrap="square">
            <a:spAutoFit/>
          </a:bodyPr>
          <a:lstStyle/>
          <a:p>
            <a:pPr algn="ctr">
              <a:spcAft>
                <a:spcPts val="600"/>
              </a:spcAft>
            </a:pPr>
            <a:r>
              <a:rPr sz="950" b="0">
                <a:solidFill>
                  <a:srgbClr val="767D88"/>
                </a:solidFill>
                <a:latin typeface="Roboto Mono"/>
              </a:rPr>
              <a:t>50</a:t>
            </a:r>
          </a:p>
        </p:txBody>
      </p:sp>
      <p:sp>
        <p:nvSpPr>
          <p:cNvPr id="16" name="TextBox 15"/>
          <p:cNvSpPr txBox="1"/>
          <p:nvPr/>
        </p:nvSpPr>
        <p:spPr>
          <a:xfrm>
            <a:off x="5376884" y="5650992"/>
            <a:ext cx="731520" cy="237744"/>
          </a:xfrm>
          <a:prstGeom prst="rect">
            <a:avLst/>
          </a:prstGeom>
          <a:noFill/>
        </p:spPr>
        <p:txBody>
          <a:bodyPr wrap="square">
            <a:spAutoFit/>
          </a:bodyPr>
          <a:lstStyle/>
          <a:p>
            <a:pPr algn="ctr">
              <a:spcAft>
                <a:spcPts val="600"/>
              </a:spcAft>
            </a:pPr>
            <a:r>
              <a:rPr sz="950" b="0">
                <a:solidFill>
                  <a:srgbClr val="767D88"/>
                </a:solidFill>
                <a:latin typeface="Roboto Mono"/>
              </a:rPr>
              <a:t>100</a:t>
            </a:r>
          </a:p>
        </p:txBody>
      </p:sp>
      <p:sp>
        <p:nvSpPr>
          <p:cNvPr id="17" name="TextBox 16"/>
          <p:cNvSpPr txBox="1"/>
          <p:nvPr/>
        </p:nvSpPr>
        <p:spPr>
          <a:xfrm>
            <a:off x="7630986" y="5650992"/>
            <a:ext cx="731520" cy="237744"/>
          </a:xfrm>
          <a:prstGeom prst="rect">
            <a:avLst/>
          </a:prstGeom>
          <a:noFill/>
        </p:spPr>
        <p:txBody>
          <a:bodyPr wrap="square">
            <a:spAutoFit/>
          </a:bodyPr>
          <a:lstStyle/>
          <a:p>
            <a:pPr algn="ctr">
              <a:spcAft>
                <a:spcPts val="600"/>
              </a:spcAft>
            </a:pPr>
            <a:r>
              <a:rPr sz="950" b="0">
                <a:solidFill>
                  <a:srgbClr val="767D88"/>
                </a:solidFill>
                <a:latin typeface="Roboto Mono"/>
              </a:rPr>
              <a:t>150</a:t>
            </a:r>
          </a:p>
        </p:txBody>
      </p:sp>
      <p:sp>
        <p:nvSpPr>
          <p:cNvPr id="18" name="TextBox 17"/>
          <p:cNvSpPr txBox="1"/>
          <p:nvPr/>
        </p:nvSpPr>
        <p:spPr>
          <a:xfrm>
            <a:off x="10561319" y="5650992"/>
            <a:ext cx="731520" cy="237744"/>
          </a:xfrm>
          <a:prstGeom prst="rect">
            <a:avLst/>
          </a:prstGeom>
          <a:noFill/>
        </p:spPr>
        <p:txBody>
          <a:bodyPr wrap="square">
            <a:spAutoFit/>
          </a:bodyPr>
          <a:lstStyle/>
          <a:p>
            <a:pPr algn="ctr">
              <a:spcAft>
                <a:spcPts val="600"/>
              </a:spcAft>
            </a:pPr>
            <a:r>
              <a:rPr sz="950" b="0">
                <a:solidFill>
                  <a:srgbClr val="767D88"/>
                </a:solidFill>
                <a:latin typeface="Roboto Mono"/>
              </a:rPr>
              <a:t>215</a:t>
            </a:r>
          </a:p>
        </p:txBody>
      </p:sp>
      <p:sp>
        <p:nvSpPr>
          <p:cNvPr id="19" name="TextBox 18"/>
          <p:cNvSpPr txBox="1"/>
          <p:nvPr/>
        </p:nvSpPr>
        <p:spPr>
          <a:xfrm>
            <a:off x="1234440" y="5907024"/>
            <a:ext cx="9692640" cy="256032"/>
          </a:xfrm>
          <a:prstGeom prst="rect">
            <a:avLst/>
          </a:prstGeom>
          <a:noFill/>
        </p:spPr>
        <p:txBody>
          <a:bodyPr wrap="square">
            <a:spAutoFit/>
          </a:bodyPr>
          <a:lstStyle/>
          <a:p>
            <a:pPr algn="ctr">
              <a:spcAft>
                <a:spcPts val="600"/>
              </a:spcAft>
            </a:pPr>
            <a:r>
              <a:rPr sz="1000" b="0">
                <a:solidFill>
                  <a:srgbClr val="767D88"/>
                </a:solidFill>
                <a:latin typeface="Roboto Mono"/>
              </a:rPr>
              <a:t>trees added   ·   starts at the training mean, 38.81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07     VALIDATION</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One test window lied to me</a:t>
            </a:r>
          </a:p>
        </p:txBody>
      </p:sp>
      <p:sp>
        <p:nvSpPr>
          <p:cNvPr id="4" name="TextBox 3"/>
          <p:cNvSpPr txBox="1"/>
          <p:nvPr/>
        </p:nvSpPr>
        <p:spPr>
          <a:xfrm>
            <a:off x="566928" y="1645920"/>
            <a:ext cx="10607040" cy="914400"/>
          </a:xfrm>
          <a:prstGeom prst="rect">
            <a:avLst/>
          </a:prstGeom>
          <a:noFill/>
        </p:spPr>
        <p:txBody>
          <a:bodyPr wrap="square">
            <a:spAutoFit/>
          </a:bodyPr>
          <a:lstStyle/>
          <a:p>
            <a:pPr algn="l">
              <a:spcAft>
                <a:spcPts val="600"/>
              </a:spcAft>
            </a:pPr>
            <a:r>
              <a:rPr sz="1500" b="0">
                <a:solidFill>
                  <a:srgbClr val="99A0AB"/>
                </a:solidFill>
                <a:latin typeface="Roboto"/>
              </a:rPr>
              <a:t>The single holdout I used at first turned out to be a different market from its own training period — median price nearly double, negative hours almost gone.</a:t>
            </a:r>
          </a:p>
        </p:txBody>
      </p:sp>
      <p:sp>
        <p:nvSpPr>
          <p:cNvPr id="5" name="Rectangle 4"/>
          <p:cNvSpPr/>
          <p:nvPr/>
        </p:nvSpPr>
        <p:spPr>
          <a:xfrm>
            <a:off x="1828800" y="2514600"/>
            <a:ext cx="2262042"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90842" y="2514600"/>
            <a:ext cx="161574" cy="10515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2674620"/>
            <a:ext cx="2423617"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2417" y="2674620"/>
            <a:ext cx="161574" cy="10515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2834640"/>
            <a:ext cx="2585191"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3991" y="2834640"/>
            <a:ext cx="161574" cy="10515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0" y="2994660"/>
            <a:ext cx="2746766"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5566" y="2994660"/>
            <a:ext cx="161574" cy="10515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0" y="3154680"/>
            <a:ext cx="2908340"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37140" y="3154680"/>
            <a:ext cx="161574" cy="10515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0" y="3314700"/>
            <a:ext cx="3069915"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98715" y="331470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0" y="3474720"/>
            <a:ext cx="3231489"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60289" y="347472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0" y="3634739"/>
            <a:ext cx="3393064"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21864" y="3634739"/>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0" y="3794760"/>
            <a:ext cx="3554638"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3438" y="379476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0" y="3954780"/>
            <a:ext cx="3716213"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45013" y="395478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0" y="4114800"/>
            <a:ext cx="3877787"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706587" y="411480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28800" y="4274820"/>
            <a:ext cx="4039361"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68162" y="427482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0" y="4434840"/>
            <a:ext cx="4200936"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29736" y="443484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28800" y="4594860"/>
            <a:ext cx="4362510"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91310" y="4594860"/>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28800" y="4754879"/>
            <a:ext cx="4524085" cy="105156"/>
          </a:xfrm>
          <a:prstGeom prst="rect">
            <a:avLst/>
          </a:prstGeom>
          <a:solidFill>
            <a:srgbClr val="242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52885" y="4754879"/>
            <a:ext cx="161574" cy="105156"/>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60" y="2468880"/>
            <a:ext cx="3017520" cy="274320"/>
          </a:xfrm>
          <a:prstGeom prst="rect">
            <a:avLst/>
          </a:prstGeom>
          <a:noFill/>
        </p:spPr>
        <p:txBody>
          <a:bodyPr wrap="square">
            <a:spAutoFit/>
          </a:bodyPr>
          <a:lstStyle/>
          <a:p>
            <a:pPr algn="l">
              <a:spcAft>
                <a:spcPts val="600"/>
              </a:spcAft>
            </a:pPr>
            <a:r>
              <a:rPr sz="1200" b="1">
                <a:solidFill>
                  <a:srgbClr val="E0A33C"/>
                </a:solidFill>
                <a:latin typeface="Roboto"/>
              </a:rPr>
              <a:t>5 folds — tuning</a:t>
            </a:r>
          </a:p>
        </p:txBody>
      </p:sp>
      <p:sp>
        <p:nvSpPr>
          <p:cNvPr id="36" name="TextBox 35"/>
          <p:cNvSpPr txBox="1"/>
          <p:nvPr/>
        </p:nvSpPr>
        <p:spPr>
          <a:xfrm>
            <a:off x="9052560" y="3451860"/>
            <a:ext cx="3017520" cy="822960"/>
          </a:xfrm>
          <a:prstGeom prst="rect">
            <a:avLst/>
          </a:prstGeom>
          <a:noFill/>
        </p:spPr>
        <p:txBody>
          <a:bodyPr wrap="square">
            <a:spAutoFit/>
          </a:bodyPr>
          <a:lstStyle/>
          <a:p>
            <a:pPr algn="l">
              <a:spcAft>
                <a:spcPts val="600"/>
              </a:spcAft>
            </a:pPr>
            <a:r>
              <a:rPr sz="1200" b="1">
                <a:solidFill>
                  <a:srgbClr val="3ECF8E"/>
                </a:solidFill>
                <a:latin typeface="Roboto"/>
              </a:rPr>
              <a:t>10 folds — reporting,</a:t>
            </a:r>
            <a:br/>
            <a:r>
              <a:rPr sz="1200" b="1">
                <a:solidFill>
                  <a:srgbClr val="3ECF8E"/>
                </a:solidFill>
                <a:latin typeface="Roboto"/>
              </a:rPr>
              <a:t>never seen while tuning</a:t>
            </a:r>
          </a:p>
        </p:txBody>
      </p:sp>
      <p:sp>
        <p:nvSpPr>
          <p:cNvPr id="37" name="TextBox 36"/>
          <p:cNvSpPr txBox="1"/>
          <p:nvPr/>
        </p:nvSpPr>
        <p:spPr>
          <a:xfrm>
            <a:off x="1828800" y="5024628"/>
            <a:ext cx="8229600" cy="274320"/>
          </a:xfrm>
          <a:prstGeom prst="rect">
            <a:avLst/>
          </a:prstGeom>
          <a:noFill/>
        </p:spPr>
        <p:txBody>
          <a:bodyPr wrap="square">
            <a:spAutoFit/>
          </a:bodyPr>
          <a:lstStyle/>
          <a:p>
            <a:pPr algn="l">
              <a:spcAft>
                <a:spcPts val="600"/>
              </a:spcAft>
            </a:pPr>
            <a:r>
              <a:rPr sz="1050" b="0">
                <a:solidFill>
                  <a:srgbClr val="767D88"/>
                </a:solidFill>
                <a:latin typeface="Roboto Mono"/>
              </a:rPr>
              <a:t>expanding training window  →  test the next month  →  roll forward</a:t>
            </a:r>
          </a:p>
        </p:txBody>
      </p:sp>
      <p:sp>
        <p:nvSpPr>
          <p:cNvPr id="38" name="TextBox 37"/>
          <p:cNvSpPr txBox="1"/>
          <p:nvPr/>
        </p:nvSpPr>
        <p:spPr>
          <a:xfrm>
            <a:off x="566928" y="5394960"/>
            <a:ext cx="11064240" cy="822960"/>
          </a:xfrm>
          <a:prstGeom prst="rect">
            <a:avLst/>
          </a:prstGeom>
          <a:noFill/>
        </p:spPr>
        <p:txBody>
          <a:bodyPr wrap="square">
            <a:spAutoFit/>
          </a:bodyPr>
          <a:lstStyle/>
          <a:p>
            <a:pPr algn="l"/>
            <a:r>
              <a:rPr sz="2200" b="0">
                <a:solidFill>
                  <a:srgbClr val="99A0AB"/>
                </a:solidFill>
                <a:latin typeface="Roboto Mono"/>
              </a:rPr>
              <a:t>the same naive rule scored  </a:t>
            </a:r>
            <a:r>
              <a:rPr sz="2200" b="1">
                <a:solidFill>
                  <a:srgbClr val="E0A33C"/>
                </a:solidFill>
                <a:latin typeface="Roboto Mono"/>
              </a:rPr>
              <a:t>14.0 to 35.8</a:t>
            </a:r>
            <a:r>
              <a:rPr sz="2200" b="0">
                <a:solidFill>
                  <a:srgbClr val="99A0AB"/>
                </a:solidFill>
                <a:latin typeface="Roboto Mono"/>
              </a:rPr>
              <a:t>  depending on the month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08     THE RULE</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Is a difference real, or is it luck?</a:t>
            </a:r>
          </a:p>
        </p:txBody>
      </p:sp>
      <p:sp>
        <p:nvSpPr>
          <p:cNvPr id="4" name="TextBox 3"/>
          <p:cNvSpPr txBox="1"/>
          <p:nvPr/>
        </p:nvSpPr>
        <p:spPr>
          <a:xfrm>
            <a:off x="566928" y="1645920"/>
            <a:ext cx="10607040" cy="914400"/>
          </a:xfrm>
          <a:prstGeom prst="rect">
            <a:avLst/>
          </a:prstGeom>
          <a:noFill/>
        </p:spPr>
        <p:txBody>
          <a:bodyPr wrap="square">
            <a:spAutoFit/>
          </a:bodyPr>
          <a:lstStyle/>
          <a:p>
            <a:pPr algn="l">
              <a:spcAft>
                <a:spcPts val="600"/>
              </a:spcAft>
            </a:pPr>
            <a:r>
              <a:rPr sz="1500" b="0">
                <a:solidFill>
                  <a:srgbClr val="99A0AB"/>
                </a:solidFill>
                <a:latin typeface="Roboto"/>
              </a:rPr>
              <a:t>No fixed success threshold — any number I picked would have been set just under what I had already achieved.</a:t>
            </a:r>
          </a:p>
        </p:txBody>
      </p:sp>
      <p:sp>
        <p:nvSpPr>
          <p:cNvPr id="5" name="TextBox 4"/>
          <p:cNvSpPr txBox="1"/>
          <p:nvPr/>
        </p:nvSpPr>
        <p:spPr>
          <a:xfrm>
            <a:off x="566928" y="2468880"/>
            <a:ext cx="11064240" cy="822960"/>
          </a:xfrm>
          <a:prstGeom prst="rect">
            <a:avLst/>
          </a:prstGeom>
          <a:noFill/>
        </p:spPr>
        <p:txBody>
          <a:bodyPr wrap="square">
            <a:spAutoFit/>
          </a:bodyPr>
          <a:lstStyle/>
          <a:p>
            <a:pPr algn="l"/>
            <a:r>
              <a:rPr sz="2200" b="0">
                <a:solidFill>
                  <a:srgbClr val="99A0AB"/>
                </a:solidFill>
                <a:latin typeface="Roboto Mono"/>
              </a:rPr>
              <a:t>keep a change only if it survives a </a:t>
            </a:r>
          </a:p>
        </p:txBody>
      </p:sp>
      <p:sp>
        <p:nvSpPr>
          <p:cNvPr id="6" name="TextBox 5"/>
          <p:cNvSpPr txBox="1"/>
          <p:nvPr/>
        </p:nvSpPr>
        <p:spPr>
          <a:xfrm>
            <a:off x="566928" y="2971800"/>
            <a:ext cx="11064240" cy="822960"/>
          </a:xfrm>
          <a:prstGeom prst="rect">
            <a:avLst/>
          </a:prstGeom>
          <a:noFill/>
        </p:spPr>
        <p:txBody>
          <a:bodyPr wrap="square">
            <a:spAutoFit/>
          </a:bodyPr>
          <a:lstStyle/>
          <a:p>
            <a:pPr algn="l"/>
            <a:r>
              <a:rPr sz="2800" b="1">
                <a:solidFill>
                  <a:srgbClr val="3ECF8E"/>
                </a:solidFill>
                <a:latin typeface="Roboto Mono"/>
              </a:rPr>
              <a:t>block bootstrap over whole days</a:t>
            </a:r>
          </a:p>
        </p:txBody>
      </p:sp>
      <p:sp>
        <p:nvSpPr>
          <p:cNvPr id="7" name="TextBox 6"/>
          <p:cNvSpPr txBox="1"/>
          <p:nvPr/>
        </p:nvSpPr>
        <p:spPr>
          <a:xfrm>
            <a:off x="566928" y="3794760"/>
            <a:ext cx="10607040" cy="914400"/>
          </a:xfrm>
          <a:prstGeom prst="rect">
            <a:avLst/>
          </a:prstGeom>
          <a:noFill/>
        </p:spPr>
        <p:txBody>
          <a:bodyPr wrap="square">
            <a:spAutoFit/>
          </a:bodyPr>
          <a:lstStyle/>
          <a:p>
            <a:pPr algn="l">
              <a:spcAft>
                <a:spcPts val="600"/>
              </a:spcAft>
            </a:pPr>
            <a:r>
              <a:rPr sz="1400" b="0">
                <a:solidFill>
                  <a:srgbClr val="D9DCE2"/>
                </a:solidFill>
                <a:latin typeface="Roboto"/>
              </a:rPr>
              <a:t>Whole days, never individual hours. Neighbouring hours correlate about 0.95 — resampling hours independently would pretend there are 7,000 independent observations when there are closer to 292, and would wave through every change I ever made.</a:t>
            </a:r>
          </a:p>
        </p:txBody>
      </p:sp>
      <p:graphicFrame>
        <p:nvGraphicFramePr>
          <p:cNvPr id="8" name="Table 7"/>
          <p:cNvGraphicFramePr>
            <a:graphicFrameLocks noGrp="1"/>
          </p:cNvGraphicFramePr>
          <p:nvPr/>
        </p:nvGraphicFramePr>
        <p:xfrm>
          <a:off x="566928" y="4937760"/>
          <a:ext cx="11064240" cy="932688"/>
        </p:xfrm>
        <a:graphic>
          <a:graphicData uri="http://schemas.openxmlformats.org/drawingml/2006/table">
            <a:tbl>
              <a:tblPr firstRow="1" bandRow="1">
                <a:tableStyleId>{5C22544A-7EE6-4342-B048-85BDC9FD1C3A}</a:tableStyleId>
              </a:tblPr>
              <a:tblGrid>
                <a:gridCol w="4206240"/>
                <a:gridCol w="1645920"/>
                <a:gridCol w="2743200"/>
                <a:gridCol w="2468880"/>
              </a:tblGrid>
              <a:tr h="310896">
                <a:tc>
                  <a:txBody>
                    <a:bodyPr/>
                    <a:lstStyle/>
                    <a:p>
                      <a:pPr algn="l"/>
                      <a:r>
                        <a:rPr sz="900" b="1">
                          <a:solidFill>
                            <a:srgbClr val="767D88"/>
                          </a:solidFill>
                          <a:latin typeface="Roboto Mono"/>
                        </a:rPr>
                        <a:t>Comparison</a:t>
                      </a:r>
                    </a:p>
                  </a:txBody>
                  <a:tcPr marL="91440" marR="91440" marT="27432" marB="27432" anchor="ctr">
                    <a:solidFill>
                      <a:srgbClr val="1C1F23"/>
                    </a:solidFill>
                  </a:tcPr>
                </a:tc>
                <a:tc>
                  <a:txBody>
                    <a:bodyPr/>
                    <a:lstStyle/>
                    <a:p>
                      <a:pPr algn="l"/>
                      <a:r>
                        <a:rPr sz="900" b="1">
                          <a:solidFill>
                            <a:srgbClr val="767D88"/>
                          </a:solidFill>
                          <a:latin typeface="Roboto Mono"/>
                        </a:rPr>
                        <a:t>Δ MAE</a:t>
                      </a:r>
                    </a:p>
                  </a:txBody>
                  <a:tcPr marL="91440" marR="91440" marT="27432" marB="27432" anchor="ctr">
                    <a:solidFill>
                      <a:srgbClr val="1C1F23"/>
                    </a:solidFill>
                  </a:tcPr>
                </a:tc>
                <a:tc>
                  <a:txBody>
                    <a:bodyPr/>
                    <a:lstStyle/>
                    <a:p>
                      <a:pPr algn="l"/>
                      <a:r>
                        <a:rPr sz="900" b="1">
                          <a:solidFill>
                            <a:srgbClr val="767D88"/>
                          </a:solidFill>
                          <a:latin typeface="Roboto Mono"/>
                        </a:rPr>
                        <a:t>95% CI</a:t>
                      </a:r>
                    </a:p>
                  </a:txBody>
                  <a:tcPr marL="91440" marR="91440" marT="27432" marB="27432" anchor="ctr">
                    <a:solidFill>
                      <a:srgbClr val="1C1F23"/>
                    </a:solidFill>
                  </a:tcPr>
                </a:tc>
                <a:tc>
                  <a:txBody>
                    <a:bodyPr/>
                    <a:lstStyle/>
                    <a:p>
                      <a:pPr algn="l"/>
                      <a:r>
                        <a:rPr sz="900" b="1">
                          <a:solidFill>
                            <a:srgbClr val="767D88"/>
                          </a:solidFill>
                          <a:latin typeface="Roboto Mono"/>
                        </a:rPr>
                        <a:t>Verdict</a:t>
                      </a:r>
                    </a:p>
                  </a:txBody>
                  <a:tcPr marL="91440" marR="91440" marT="27432" marB="27432" anchor="ctr">
                    <a:solidFill>
                      <a:srgbClr val="1C1F23"/>
                    </a:solidFill>
                  </a:tcPr>
                </a:tc>
              </a:tr>
              <a:tr h="310896">
                <a:tc>
                  <a:txBody>
                    <a:bodyPr/>
                    <a:lstStyle/>
                    <a:p>
                      <a:pPr algn="l"/>
                      <a:r>
                        <a:rPr sz="1200" b="0">
                          <a:solidFill>
                            <a:srgbClr val="3ECF8E"/>
                          </a:solidFill>
                          <a:latin typeface="Roboto"/>
                        </a:rPr>
                        <a:t>model vs best naive</a:t>
                      </a:r>
                    </a:p>
                  </a:txBody>
                  <a:tcPr marL="91440" marR="91440" marT="27432" marB="27432" anchor="ctr">
                    <a:solidFill>
                      <a:srgbClr val="142A22"/>
                    </a:solidFill>
                  </a:tcPr>
                </a:tc>
                <a:tc>
                  <a:txBody>
                    <a:bodyPr/>
                    <a:lstStyle/>
                    <a:p>
                      <a:pPr algn="r"/>
                      <a:r>
                        <a:rPr sz="1200" b="0">
                          <a:solidFill>
                            <a:srgbClr val="3ECF8E"/>
                          </a:solidFill>
                          <a:latin typeface="Roboto Mono"/>
                        </a:rPr>
                        <a:t>+6.72</a:t>
                      </a:r>
                    </a:p>
                  </a:txBody>
                  <a:tcPr marL="91440" marR="91440" marT="27432" marB="27432" anchor="ctr">
                    <a:solidFill>
                      <a:srgbClr val="142A22"/>
                    </a:solidFill>
                  </a:tcPr>
                </a:tc>
                <a:tc>
                  <a:txBody>
                    <a:bodyPr/>
                    <a:lstStyle/>
                    <a:p>
                      <a:pPr algn="r"/>
                      <a:r>
                        <a:rPr sz="1200" b="0">
                          <a:solidFill>
                            <a:srgbClr val="3ECF8E"/>
                          </a:solidFill>
                          <a:latin typeface="Roboto Mono"/>
                        </a:rPr>
                        <a:t>[+5.13, +8.42]</a:t>
                      </a:r>
                    </a:p>
                  </a:txBody>
                  <a:tcPr marL="91440" marR="91440" marT="27432" marB="27432" anchor="ctr">
                    <a:solidFill>
                      <a:srgbClr val="142A22"/>
                    </a:solidFill>
                  </a:tcPr>
                </a:tc>
                <a:tc>
                  <a:txBody>
                    <a:bodyPr/>
                    <a:lstStyle/>
                    <a:p>
                      <a:pPr algn="r"/>
                      <a:r>
                        <a:rPr sz="1200" b="0">
                          <a:solidFill>
                            <a:srgbClr val="3ECF8E"/>
                          </a:solidFill>
                          <a:latin typeface="Roboto Mono"/>
                        </a:rPr>
                        <a:t>real</a:t>
                      </a:r>
                    </a:p>
                  </a:txBody>
                  <a:tcPr marL="91440" marR="91440" marT="27432" marB="27432" anchor="ctr">
                    <a:solidFill>
                      <a:srgbClr val="142A22"/>
                    </a:solidFill>
                  </a:tcPr>
                </a:tc>
              </a:tr>
              <a:tr h="310896">
                <a:tc>
                  <a:txBody>
                    <a:bodyPr/>
                    <a:lstStyle/>
                    <a:p>
                      <a:pPr algn="l"/>
                      <a:r>
                        <a:rPr sz="1200" b="0">
                          <a:solidFill>
                            <a:srgbClr val="D9DCE2"/>
                          </a:solidFill>
                          <a:latin typeface="Roboto"/>
                        </a:rPr>
                        <a:t>hour-grouped vs single model</a:t>
                      </a:r>
                    </a:p>
                  </a:txBody>
                  <a:tcPr marL="91440" marR="91440" marT="27432" marB="27432" anchor="ctr">
                    <a:solidFill>
                      <a:srgbClr val="0D0E10"/>
                    </a:solidFill>
                  </a:tcPr>
                </a:tc>
                <a:tc>
                  <a:txBody>
                    <a:bodyPr/>
                    <a:lstStyle/>
                    <a:p>
                      <a:pPr algn="r"/>
                      <a:r>
                        <a:rPr sz="1200" b="0">
                          <a:solidFill>
                            <a:srgbClr val="D9DCE2"/>
                          </a:solidFill>
                          <a:latin typeface="Roboto Mono"/>
                        </a:rPr>
                        <a:t>−0.28</a:t>
                      </a:r>
                    </a:p>
                  </a:txBody>
                  <a:tcPr marL="91440" marR="91440" marT="27432" marB="27432" anchor="ctr">
                    <a:solidFill>
                      <a:srgbClr val="0D0E10"/>
                    </a:solidFill>
                  </a:tcPr>
                </a:tc>
                <a:tc>
                  <a:txBody>
                    <a:bodyPr/>
                    <a:lstStyle/>
                    <a:p>
                      <a:pPr algn="r"/>
                      <a:r>
                        <a:rPr sz="1200" b="0">
                          <a:solidFill>
                            <a:srgbClr val="D9DCE2"/>
                          </a:solidFill>
                          <a:latin typeface="Roboto Mono"/>
                        </a:rPr>
                        <a:t>[−0.79, +0.25]</a:t>
                      </a:r>
                    </a:p>
                  </a:txBody>
                  <a:tcPr marL="91440" marR="91440" marT="27432" marB="27432" anchor="ctr">
                    <a:solidFill>
                      <a:srgbClr val="0D0E10"/>
                    </a:solidFill>
                  </a:tcPr>
                </a:tc>
                <a:tc>
                  <a:txBody>
                    <a:bodyPr/>
                    <a:lstStyle/>
                    <a:p>
                      <a:pPr algn="r"/>
                      <a:r>
                        <a:rPr sz="1200" b="0">
                          <a:solidFill>
                            <a:srgbClr val="D9DCE2"/>
                          </a:solidFill>
                          <a:latin typeface="Roboto Mono"/>
                        </a:rPr>
                        <a:t>not distinguishable</a:t>
                      </a:r>
                    </a:p>
                  </a:txBody>
                  <a:tcPr marL="91440" marR="91440" marT="27432" marB="27432" anchor="ctr">
                    <a:solidFill>
                      <a:srgbClr val="0D0E1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09     RESULTS</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Results, on ten months never used for tuning</a:t>
            </a:r>
          </a:p>
        </p:txBody>
      </p:sp>
      <p:graphicFrame>
        <p:nvGraphicFramePr>
          <p:cNvPr id="4" name="Table 3"/>
          <p:cNvGraphicFramePr>
            <a:graphicFrameLocks noGrp="1"/>
          </p:cNvGraphicFramePr>
          <p:nvPr/>
        </p:nvGraphicFramePr>
        <p:xfrm>
          <a:off x="566928" y="1783080"/>
          <a:ext cx="11064240" cy="1865376"/>
        </p:xfrm>
        <a:graphic>
          <a:graphicData uri="http://schemas.openxmlformats.org/drawingml/2006/table">
            <a:tbl>
              <a:tblPr firstRow="1" bandRow="1">
                <a:tableStyleId>{5C22544A-7EE6-4342-B048-85BDC9FD1C3A}</a:tableStyleId>
              </a:tblPr>
              <a:tblGrid>
                <a:gridCol w="4572000"/>
                <a:gridCol w="1645920"/>
                <a:gridCol w="1645920"/>
                <a:gridCol w="1645920"/>
                <a:gridCol w="1554480"/>
              </a:tblGrid>
              <a:tr h="310896">
                <a:tc>
                  <a:txBody>
                    <a:bodyPr/>
                    <a:lstStyle/>
                    <a:p>
                      <a:pPr algn="l"/>
                      <a:r>
                        <a:rPr sz="900" b="1">
                          <a:solidFill>
                            <a:srgbClr val="767D88"/>
                          </a:solidFill>
                          <a:latin typeface="Roboto Mono"/>
                        </a:rPr>
                        <a:t>Predictor</a:t>
                      </a:r>
                    </a:p>
                  </a:txBody>
                  <a:tcPr marL="91440" marR="91440" marT="27432" marB="27432" anchor="ctr">
                    <a:solidFill>
                      <a:srgbClr val="1C1F23"/>
                    </a:solidFill>
                  </a:tcPr>
                </a:tc>
                <a:tc>
                  <a:txBody>
                    <a:bodyPr/>
                    <a:lstStyle/>
                    <a:p>
                      <a:pPr algn="l"/>
                      <a:r>
                        <a:rPr sz="900" b="1">
                          <a:solidFill>
                            <a:srgbClr val="767D88"/>
                          </a:solidFill>
                          <a:latin typeface="Roboto Mono"/>
                        </a:rPr>
                        <a:t>MAE</a:t>
                      </a:r>
                    </a:p>
                  </a:txBody>
                  <a:tcPr marL="91440" marR="91440" marT="27432" marB="27432" anchor="ctr">
                    <a:solidFill>
                      <a:srgbClr val="1C1F23"/>
                    </a:solidFill>
                  </a:tcPr>
                </a:tc>
                <a:tc>
                  <a:txBody>
                    <a:bodyPr/>
                    <a:lstStyle/>
                    <a:p>
                      <a:pPr algn="l"/>
                      <a:r>
                        <a:rPr sz="900" b="1">
                          <a:solidFill>
                            <a:srgbClr val="767D88"/>
                          </a:solidFill>
                          <a:latin typeface="Roboto Mono"/>
                        </a:rPr>
                        <a:t>RMSE</a:t>
                      </a:r>
                    </a:p>
                  </a:txBody>
                  <a:tcPr marL="91440" marR="91440" marT="27432" marB="27432" anchor="ctr">
                    <a:solidFill>
                      <a:srgbClr val="1C1F23"/>
                    </a:solidFill>
                  </a:tcPr>
                </a:tc>
                <a:tc>
                  <a:txBody>
                    <a:bodyPr/>
                    <a:lstStyle/>
                    <a:p>
                      <a:pPr algn="l"/>
                      <a:r>
                        <a:rPr sz="900" b="1">
                          <a:solidFill>
                            <a:srgbClr val="767D88"/>
                          </a:solidFill>
                          <a:latin typeface="Roboto Mono"/>
                        </a:rPr>
                        <a:t>fold sd</a:t>
                      </a:r>
                    </a:p>
                  </a:txBody>
                  <a:tcPr marL="91440" marR="91440" marT="27432" marB="27432" anchor="ctr">
                    <a:solidFill>
                      <a:srgbClr val="1C1F23"/>
                    </a:solidFill>
                  </a:tcPr>
                </a:tc>
                <a:tc>
                  <a:txBody>
                    <a:bodyPr/>
                    <a:lstStyle/>
                    <a:p>
                      <a:pPr algn="l"/>
                      <a:r>
                        <a:rPr sz="900" b="1">
                          <a:solidFill>
                            <a:srgbClr val="767D88"/>
                          </a:solidFill>
                          <a:latin typeface="Roboto Mono"/>
                        </a:rPr>
                        <a:t>worst fold</a:t>
                      </a:r>
                    </a:p>
                  </a:txBody>
                  <a:tcPr marL="91440" marR="91440" marT="27432" marB="27432" anchor="ctr">
                    <a:solidFill>
                      <a:srgbClr val="1C1F23"/>
                    </a:solidFill>
                  </a:tcPr>
                </a:tc>
              </a:tr>
              <a:tr h="310896">
                <a:tc>
                  <a:txBody>
                    <a:bodyPr/>
                    <a:lstStyle/>
                    <a:p>
                      <a:pPr algn="l"/>
                      <a:r>
                        <a:rPr sz="1200" b="0">
                          <a:solidFill>
                            <a:srgbClr val="D9DCE2"/>
                          </a:solidFill>
                          <a:latin typeface="Roboto"/>
                        </a:rPr>
                        <a:t>naive — yesterday, same hour</a:t>
                      </a:r>
                    </a:p>
                  </a:txBody>
                  <a:tcPr marL="91440" marR="91440" marT="27432" marB="27432" anchor="ctr">
                    <a:solidFill>
                      <a:srgbClr val="0D0E10"/>
                    </a:solidFill>
                  </a:tcPr>
                </a:tc>
                <a:tc>
                  <a:txBody>
                    <a:bodyPr/>
                    <a:lstStyle/>
                    <a:p>
                      <a:pPr algn="r"/>
                      <a:r>
                        <a:rPr sz="1200" b="0">
                          <a:solidFill>
                            <a:srgbClr val="D9DCE2"/>
                          </a:solidFill>
                          <a:latin typeface="Roboto Mono"/>
                        </a:rPr>
                        <a:t>26.28</a:t>
                      </a:r>
                    </a:p>
                  </a:txBody>
                  <a:tcPr marL="91440" marR="91440" marT="27432" marB="27432" anchor="ctr">
                    <a:solidFill>
                      <a:srgbClr val="0D0E10"/>
                    </a:solidFill>
                  </a:tcPr>
                </a:tc>
                <a:tc>
                  <a:txBody>
                    <a:bodyPr/>
                    <a:lstStyle/>
                    <a:p>
                      <a:pPr algn="r"/>
                      <a:r>
                        <a:rPr sz="1200" b="0">
                          <a:solidFill>
                            <a:srgbClr val="D9DCE2"/>
                          </a:solidFill>
                          <a:latin typeface="Roboto Mono"/>
                        </a:rPr>
                        <a:t>36.90</a:t>
                      </a:r>
                    </a:p>
                  </a:txBody>
                  <a:tcPr marL="91440" marR="91440" marT="27432" marB="27432" anchor="ctr">
                    <a:solidFill>
                      <a:srgbClr val="0D0E10"/>
                    </a:solidFill>
                  </a:tcPr>
                </a:tc>
                <a:tc>
                  <a:txBody>
                    <a:bodyPr/>
                    <a:lstStyle/>
                    <a:p>
                      <a:pPr algn="r"/>
                      <a:r>
                        <a:rPr sz="1200" b="0">
                          <a:solidFill>
                            <a:srgbClr val="D9DCE2"/>
                          </a:solidFill>
                          <a:latin typeface="Roboto Mono"/>
                        </a:rPr>
                        <a:t>3.12</a:t>
                      </a:r>
                    </a:p>
                  </a:txBody>
                  <a:tcPr marL="91440" marR="91440" marT="27432" marB="27432" anchor="ctr">
                    <a:solidFill>
                      <a:srgbClr val="0D0E10"/>
                    </a:solidFill>
                  </a:tcPr>
                </a:tc>
                <a:tc>
                  <a:txBody>
                    <a:bodyPr/>
                    <a:lstStyle/>
                    <a:p>
                      <a:pPr algn="r"/>
                      <a:r>
                        <a:rPr sz="1200" b="0">
                          <a:solidFill>
                            <a:srgbClr val="D9DCE2"/>
                          </a:solidFill>
                          <a:latin typeface="Roboto Mono"/>
                        </a:rPr>
                        <a:t>33.7</a:t>
                      </a:r>
                    </a:p>
                  </a:txBody>
                  <a:tcPr marL="91440" marR="91440" marT="27432" marB="27432" anchor="ctr">
                    <a:solidFill>
                      <a:srgbClr val="0D0E10"/>
                    </a:solidFill>
                  </a:tcPr>
                </a:tc>
              </a:tr>
              <a:tr h="310896">
                <a:tc>
                  <a:txBody>
                    <a:bodyPr/>
                    <a:lstStyle/>
                    <a:p>
                      <a:pPr algn="l"/>
                      <a:r>
                        <a:rPr sz="1200" b="0">
                          <a:solidFill>
                            <a:srgbClr val="D9DCE2"/>
                          </a:solidFill>
                          <a:latin typeface="Roboto"/>
                        </a:rPr>
                        <a:t>naive — last week, same hour</a:t>
                      </a:r>
                    </a:p>
                  </a:txBody>
                  <a:tcPr marL="91440" marR="91440" marT="27432" marB="27432" anchor="ctr">
                    <a:solidFill>
                      <a:srgbClr val="0D0E10"/>
                    </a:solidFill>
                  </a:tcPr>
                </a:tc>
                <a:tc>
                  <a:txBody>
                    <a:bodyPr/>
                    <a:lstStyle/>
                    <a:p>
                      <a:pPr algn="r"/>
                      <a:r>
                        <a:rPr sz="1200" b="0">
                          <a:solidFill>
                            <a:srgbClr val="D9DCE2"/>
                          </a:solidFill>
                          <a:latin typeface="Roboto Mono"/>
                        </a:rPr>
                        <a:t>34.63</a:t>
                      </a:r>
                    </a:p>
                  </a:txBody>
                  <a:tcPr marL="91440" marR="91440" marT="27432" marB="27432" anchor="ctr">
                    <a:solidFill>
                      <a:srgbClr val="0D0E10"/>
                    </a:solidFill>
                  </a:tcPr>
                </a:tc>
                <a:tc>
                  <a:txBody>
                    <a:bodyPr/>
                    <a:lstStyle/>
                    <a:p>
                      <a:pPr algn="r"/>
                      <a:r>
                        <a:rPr sz="1200" b="0">
                          <a:solidFill>
                            <a:srgbClr val="D9DCE2"/>
                          </a:solidFill>
                          <a:latin typeface="Roboto Mono"/>
                        </a:rPr>
                        <a:t>47.80</a:t>
                      </a:r>
                    </a:p>
                  </a:txBody>
                  <a:tcPr marL="91440" marR="91440" marT="27432" marB="27432" anchor="ctr">
                    <a:solidFill>
                      <a:srgbClr val="0D0E10"/>
                    </a:solidFill>
                  </a:tcPr>
                </a:tc>
                <a:tc>
                  <a:txBody>
                    <a:bodyPr/>
                    <a:lstStyle/>
                    <a:p>
                      <a:pPr algn="r"/>
                      <a:r>
                        <a:rPr sz="1200" b="0">
                          <a:solidFill>
                            <a:srgbClr val="D9DCE2"/>
                          </a:solidFill>
                          <a:latin typeface="Roboto Mono"/>
                        </a:rPr>
                        <a:t>4.49</a:t>
                      </a:r>
                    </a:p>
                  </a:txBody>
                  <a:tcPr marL="91440" marR="91440" marT="27432" marB="27432" anchor="ctr">
                    <a:solidFill>
                      <a:srgbClr val="0D0E10"/>
                    </a:solidFill>
                  </a:tcPr>
                </a:tc>
                <a:tc>
                  <a:txBody>
                    <a:bodyPr/>
                    <a:lstStyle/>
                    <a:p>
                      <a:pPr algn="r"/>
                      <a:r>
                        <a:rPr sz="1200" b="0">
                          <a:solidFill>
                            <a:srgbClr val="D9DCE2"/>
                          </a:solidFill>
                          <a:latin typeface="Roboto Mono"/>
                        </a:rPr>
                        <a:t>41.8</a:t>
                      </a:r>
                    </a:p>
                  </a:txBody>
                  <a:tcPr marL="91440" marR="91440" marT="27432" marB="27432" anchor="ctr">
                    <a:solidFill>
                      <a:srgbClr val="0D0E10"/>
                    </a:solidFill>
                  </a:tcPr>
                </a:tc>
              </a:tr>
              <a:tr h="310896">
                <a:tc>
                  <a:txBody>
                    <a:bodyPr/>
                    <a:lstStyle/>
                    <a:p>
                      <a:pPr algn="l"/>
                      <a:r>
                        <a:rPr sz="1200" b="0">
                          <a:solidFill>
                            <a:srgbClr val="D9DCE2"/>
                          </a:solidFill>
                          <a:latin typeface="Roboto"/>
                        </a:rPr>
                        <a:t>ridge, same 70 features</a:t>
                      </a:r>
                    </a:p>
                  </a:txBody>
                  <a:tcPr marL="91440" marR="91440" marT="27432" marB="27432" anchor="ctr">
                    <a:solidFill>
                      <a:srgbClr val="0D0E10"/>
                    </a:solidFill>
                  </a:tcPr>
                </a:tc>
                <a:tc>
                  <a:txBody>
                    <a:bodyPr/>
                    <a:lstStyle/>
                    <a:p>
                      <a:pPr algn="r"/>
                      <a:r>
                        <a:rPr sz="1200" b="0">
                          <a:solidFill>
                            <a:srgbClr val="D9DCE2"/>
                          </a:solidFill>
                          <a:latin typeface="Roboto Mono"/>
                        </a:rPr>
                        <a:t>19.67</a:t>
                      </a:r>
                    </a:p>
                  </a:txBody>
                  <a:tcPr marL="91440" marR="91440" marT="27432" marB="27432" anchor="ctr">
                    <a:solidFill>
                      <a:srgbClr val="0D0E10"/>
                    </a:solidFill>
                  </a:tcPr>
                </a:tc>
                <a:tc>
                  <a:txBody>
                    <a:bodyPr/>
                    <a:lstStyle/>
                    <a:p>
                      <a:pPr algn="r"/>
                      <a:r>
                        <a:rPr sz="1200" b="0">
                          <a:solidFill>
                            <a:srgbClr val="D9DCE2"/>
                          </a:solidFill>
                          <a:latin typeface="Roboto Mono"/>
                        </a:rPr>
                        <a:t>27.31</a:t>
                      </a:r>
                    </a:p>
                  </a:txBody>
                  <a:tcPr marL="91440" marR="91440" marT="27432" marB="27432" anchor="ctr">
                    <a:solidFill>
                      <a:srgbClr val="0D0E10"/>
                    </a:solidFill>
                  </a:tcPr>
                </a:tc>
                <a:tc>
                  <a:txBody>
                    <a:bodyPr/>
                    <a:lstStyle/>
                    <a:p>
                      <a:pPr algn="r"/>
                      <a:r>
                        <a:rPr sz="1200" b="0">
                          <a:solidFill>
                            <a:srgbClr val="D9DCE2"/>
                          </a:solidFill>
                          <a:latin typeface="Roboto Mono"/>
                        </a:rPr>
                        <a:t>3.13</a:t>
                      </a:r>
                    </a:p>
                  </a:txBody>
                  <a:tcPr marL="91440" marR="91440" marT="27432" marB="27432" anchor="ctr">
                    <a:solidFill>
                      <a:srgbClr val="0D0E10"/>
                    </a:solidFill>
                  </a:tcPr>
                </a:tc>
                <a:tc>
                  <a:txBody>
                    <a:bodyPr/>
                    <a:lstStyle/>
                    <a:p>
                      <a:pPr algn="r"/>
                      <a:r>
                        <a:rPr sz="1200" b="0">
                          <a:solidFill>
                            <a:srgbClr val="D9DCE2"/>
                          </a:solidFill>
                          <a:latin typeface="Roboto Mono"/>
                        </a:rPr>
                        <a:t>24.2</a:t>
                      </a:r>
                    </a:p>
                  </a:txBody>
                  <a:tcPr marL="91440" marR="91440" marT="27432" marB="27432" anchor="ctr">
                    <a:solidFill>
                      <a:srgbClr val="0D0E10"/>
                    </a:solidFill>
                  </a:tcPr>
                </a:tc>
              </a:tr>
              <a:tr h="310896">
                <a:tc>
                  <a:txBody>
                    <a:bodyPr/>
                    <a:lstStyle/>
                    <a:p>
                      <a:pPr algn="l"/>
                      <a:r>
                        <a:rPr sz="1200" b="0">
                          <a:solidFill>
                            <a:srgbClr val="3ECF8E"/>
                          </a:solidFill>
                          <a:latin typeface="Roboto"/>
                        </a:rPr>
                        <a:t>gradient boosting</a:t>
                      </a:r>
                    </a:p>
                  </a:txBody>
                  <a:tcPr marL="91440" marR="91440" marT="27432" marB="27432" anchor="ctr">
                    <a:solidFill>
                      <a:srgbClr val="142A22"/>
                    </a:solidFill>
                  </a:tcPr>
                </a:tc>
                <a:tc>
                  <a:txBody>
                    <a:bodyPr/>
                    <a:lstStyle/>
                    <a:p>
                      <a:pPr algn="r"/>
                      <a:r>
                        <a:rPr sz="1200" b="0">
                          <a:solidFill>
                            <a:srgbClr val="3ECF8E"/>
                          </a:solidFill>
                          <a:latin typeface="Roboto Mono"/>
                        </a:rPr>
                        <a:t>19.56</a:t>
                      </a:r>
                    </a:p>
                  </a:txBody>
                  <a:tcPr marL="91440" marR="91440" marT="27432" marB="27432" anchor="ctr">
                    <a:solidFill>
                      <a:srgbClr val="142A22"/>
                    </a:solidFill>
                  </a:tcPr>
                </a:tc>
                <a:tc>
                  <a:txBody>
                    <a:bodyPr/>
                    <a:lstStyle/>
                    <a:p>
                      <a:pPr algn="r"/>
                      <a:r>
                        <a:rPr sz="1200" b="0">
                          <a:solidFill>
                            <a:srgbClr val="3ECF8E"/>
                          </a:solidFill>
                          <a:latin typeface="Roboto Mono"/>
                        </a:rPr>
                        <a:t>26.73</a:t>
                      </a:r>
                    </a:p>
                  </a:txBody>
                  <a:tcPr marL="91440" marR="91440" marT="27432" marB="27432" anchor="ctr">
                    <a:solidFill>
                      <a:srgbClr val="142A22"/>
                    </a:solidFill>
                  </a:tcPr>
                </a:tc>
                <a:tc>
                  <a:txBody>
                    <a:bodyPr/>
                    <a:lstStyle/>
                    <a:p>
                      <a:pPr algn="r"/>
                      <a:r>
                        <a:rPr sz="1200" b="0">
                          <a:solidFill>
                            <a:srgbClr val="3ECF8E"/>
                          </a:solidFill>
                          <a:latin typeface="Roboto Mono"/>
                        </a:rPr>
                        <a:t>1.92</a:t>
                      </a:r>
                    </a:p>
                  </a:txBody>
                  <a:tcPr marL="91440" marR="91440" marT="27432" marB="27432" anchor="ctr">
                    <a:solidFill>
                      <a:srgbClr val="142A22"/>
                    </a:solidFill>
                  </a:tcPr>
                </a:tc>
                <a:tc>
                  <a:txBody>
                    <a:bodyPr/>
                    <a:lstStyle/>
                    <a:p>
                      <a:pPr algn="r"/>
                      <a:r>
                        <a:rPr sz="1200" b="0">
                          <a:solidFill>
                            <a:srgbClr val="3ECF8E"/>
                          </a:solidFill>
                          <a:latin typeface="Roboto Mono"/>
                        </a:rPr>
                        <a:t>22.2</a:t>
                      </a:r>
                    </a:p>
                  </a:txBody>
                  <a:tcPr marL="91440" marR="91440" marT="27432" marB="27432" anchor="ctr">
                    <a:solidFill>
                      <a:srgbClr val="142A22"/>
                    </a:solidFill>
                  </a:tcPr>
                </a:tc>
              </a:tr>
              <a:tr h="310896">
                <a:tc>
                  <a:txBody>
                    <a:bodyPr/>
                    <a:lstStyle/>
                    <a:p>
                      <a:pPr algn="l"/>
                      <a:r>
                        <a:rPr sz="1200" b="0">
                          <a:solidFill>
                            <a:srgbClr val="D9DCE2"/>
                          </a:solidFill>
                          <a:latin typeface="Roboto"/>
                        </a:rPr>
                        <a:t>boosting, grouped by hour</a:t>
                      </a:r>
                    </a:p>
                  </a:txBody>
                  <a:tcPr marL="91440" marR="91440" marT="27432" marB="27432" anchor="ctr">
                    <a:solidFill>
                      <a:srgbClr val="0D0E10"/>
                    </a:solidFill>
                  </a:tcPr>
                </a:tc>
                <a:tc>
                  <a:txBody>
                    <a:bodyPr/>
                    <a:lstStyle/>
                    <a:p>
                      <a:pPr algn="r"/>
                      <a:r>
                        <a:rPr sz="1200" b="0">
                          <a:solidFill>
                            <a:srgbClr val="D9DCE2"/>
                          </a:solidFill>
                          <a:latin typeface="Roboto Mono"/>
                        </a:rPr>
                        <a:t>19.83</a:t>
                      </a:r>
                    </a:p>
                  </a:txBody>
                  <a:tcPr marL="91440" marR="91440" marT="27432" marB="27432" anchor="ctr">
                    <a:solidFill>
                      <a:srgbClr val="0D0E10"/>
                    </a:solidFill>
                  </a:tcPr>
                </a:tc>
                <a:tc>
                  <a:txBody>
                    <a:bodyPr/>
                    <a:lstStyle/>
                    <a:p>
                      <a:pPr algn="r"/>
                      <a:r>
                        <a:rPr sz="1200" b="0">
                          <a:solidFill>
                            <a:srgbClr val="D9DCE2"/>
                          </a:solidFill>
                          <a:latin typeface="Roboto Mono"/>
                        </a:rPr>
                        <a:t>27.00</a:t>
                      </a:r>
                    </a:p>
                  </a:txBody>
                  <a:tcPr marL="91440" marR="91440" marT="27432" marB="27432" anchor="ctr">
                    <a:solidFill>
                      <a:srgbClr val="0D0E10"/>
                    </a:solidFill>
                  </a:tcPr>
                </a:tc>
                <a:tc>
                  <a:txBody>
                    <a:bodyPr/>
                    <a:lstStyle/>
                    <a:p>
                      <a:pPr algn="r"/>
                      <a:r>
                        <a:rPr sz="1200" b="0">
                          <a:solidFill>
                            <a:srgbClr val="D9DCE2"/>
                          </a:solidFill>
                          <a:latin typeface="Roboto Mono"/>
                        </a:rPr>
                        <a:t>2.36</a:t>
                      </a:r>
                    </a:p>
                  </a:txBody>
                  <a:tcPr marL="91440" marR="91440" marT="27432" marB="27432" anchor="ctr">
                    <a:solidFill>
                      <a:srgbClr val="0D0E10"/>
                    </a:solidFill>
                  </a:tcPr>
                </a:tc>
                <a:tc>
                  <a:txBody>
                    <a:bodyPr/>
                    <a:lstStyle/>
                    <a:p>
                      <a:pPr algn="r"/>
                      <a:r>
                        <a:rPr sz="1200" b="0">
                          <a:solidFill>
                            <a:srgbClr val="D9DCE2"/>
                          </a:solidFill>
                          <a:latin typeface="Roboto Mono"/>
                        </a:rPr>
                        <a:t>23.5</a:t>
                      </a:r>
                    </a:p>
                  </a:txBody>
                  <a:tcPr marL="91440" marR="91440" marT="27432" marB="27432" anchor="ctr">
                    <a:solidFill>
                      <a:srgbClr val="0D0E10"/>
                    </a:solidFill>
                  </a:tcPr>
                </a:tc>
              </a:tr>
            </a:tbl>
          </a:graphicData>
        </a:graphic>
      </p:graphicFrame>
      <p:sp>
        <p:nvSpPr>
          <p:cNvPr id="5" name="Rounded Rectangle 4"/>
          <p:cNvSpPr/>
          <p:nvPr/>
        </p:nvSpPr>
        <p:spPr>
          <a:xfrm>
            <a:off x="566928" y="4160520"/>
            <a:ext cx="35204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4306824"/>
            <a:ext cx="3154680" cy="502920"/>
          </a:xfrm>
          <a:prstGeom prst="rect">
            <a:avLst/>
          </a:prstGeom>
          <a:noFill/>
        </p:spPr>
        <p:txBody>
          <a:bodyPr wrap="square">
            <a:spAutoFit/>
          </a:bodyPr>
          <a:lstStyle/>
          <a:p>
            <a:pPr algn="l"/>
            <a:r>
              <a:rPr sz="2600" b="1">
                <a:solidFill>
                  <a:srgbClr val="3ECF8E"/>
                </a:solidFill>
                <a:latin typeface="Roboto Mono"/>
              </a:rPr>
              <a:t>10 / 10</a:t>
            </a:r>
          </a:p>
        </p:txBody>
      </p:sp>
      <p:sp>
        <p:nvSpPr>
          <p:cNvPr id="7" name="TextBox 6"/>
          <p:cNvSpPr txBox="1"/>
          <p:nvPr/>
        </p:nvSpPr>
        <p:spPr>
          <a:xfrm>
            <a:off x="786384" y="4818888"/>
            <a:ext cx="3154680" cy="256032"/>
          </a:xfrm>
          <a:prstGeom prst="rect">
            <a:avLst/>
          </a:prstGeom>
          <a:noFill/>
        </p:spPr>
        <p:txBody>
          <a:bodyPr wrap="square">
            <a:spAutoFit/>
          </a:bodyPr>
          <a:lstStyle/>
          <a:p>
            <a:pPr algn="l"/>
            <a:r>
              <a:rPr sz="850" b="1">
                <a:solidFill>
                  <a:srgbClr val="767D88"/>
                </a:solidFill>
                <a:latin typeface="Roboto Mono"/>
              </a:rPr>
              <a:t>FOLDS WON</a:t>
            </a:r>
          </a:p>
        </p:txBody>
      </p:sp>
      <p:sp>
        <p:nvSpPr>
          <p:cNvPr id="8" name="TextBox 7"/>
          <p:cNvSpPr txBox="1"/>
          <p:nvPr/>
        </p:nvSpPr>
        <p:spPr>
          <a:xfrm>
            <a:off x="786384" y="5074920"/>
            <a:ext cx="3154680" cy="457200"/>
          </a:xfrm>
          <a:prstGeom prst="rect">
            <a:avLst/>
          </a:prstGeom>
          <a:noFill/>
        </p:spPr>
        <p:txBody>
          <a:bodyPr wrap="square">
            <a:spAutoFit/>
          </a:bodyPr>
          <a:lstStyle/>
          <a:p>
            <a:pPr algn="l"/>
            <a:r>
              <a:rPr sz="1000">
                <a:solidFill>
                  <a:srgbClr val="99A0AB"/>
                </a:solidFill>
                <a:latin typeface="Roboto"/>
              </a:rPr>
              <a:t>+10.7% to +37.5%</a:t>
            </a:r>
          </a:p>
        </p:txBody>
      </p:sp>
      <p:sp>
        <p:nvSpPr>
          <p:cNvPr id="9" name="Rounded Rectangle 8"/>
          <p:cNvSpPr/>
          <p:nvPr/>
        </p:nvSpPr>
        <p:spPr>
          <a:xfrm>
            <a:off x="4315968" y="4160520"/>
            <a:ext cx="35204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4306824"/>
            <a:ext cx="3154680" cy="502920"/>
          </a:xfrm>
          <a:prstGeom prst="rect">
            <a:avLst/>
          </a:prstGeom>
          <a:noFill/>
        </p:spPr>
        <p:txBody>
          <a:bodyPr wrap="square">
            <a:spAutoFit/>
          </a:bodyPr>
          <a:lstStyle/>
          <a:p>
            <a:pPr algn="l"/>
            <a:r>
              <a:rPr sz="2600" b="1">
                <a:solidFill>
                  <a:srgbClr val="3ECF8E"/>
                </a:solidFill>
                <a:latin typeface="Roboto Mono"/>
              </a:rPr>
              <a:t>1.92</a:t>
            </a:r>
          </a:p>
        </p:txBody>
      </p:sp>
      <p:sp>
        <p:nvSpPr>
          <p:cNvPr id="11" name="TextBox 10"/>
          <p:cNvSpPr txBox="1"/>
          <p:nvPr/>
        </p:nvSpPr>
        <p:spPr>
          <a:xfrm>
            <a:off x="4535424" y="4818888"/>
            <a:ext cx="3154680" cy="256032"/>
          </a:xfrm>
          <a:prstGeom prst="rect">
            <a:avLst/>
          </a:prstGeom>
          <a:noFill/>
        </p:spPr>
        <p:txBody>
          <a:bodyPr wrap="square">
            <a:spAutoFit/>
          </a:bodyPr>
          <a:lstStyle/>
          <a:p>
            <a:pPr algn="l"/>
            <a:r>
              <a:rPr sz="850" b="1">
                <a:solidFill>
                  <a:srgbClr val="767D88"/>
                </a:solidFill>
                <a:latin typeface="Roboto Mono"/>
              </a:rPr>
              <a:t>FOLD SPREAD VS 3.12</a:t>
            </a:r>
          </a:p>
        </p:txBody>
      </p:sp>
      <p:sp>
        <p:nvSpPr>
          <p:cNvPr id="12" name="TextBox 11"/>
          <p:cNvSpPr txBox="1"/>
          <p:nvPr/>
        </p:nvSpPr>
        <p:spPr>
          <a:xfrm>
            <a:off x="4535424" y="5074920"/>
            <a:ext cx="3154680" cy="457200"/>
          </a:xfrm>
          <a:prstGeom prst="rect">
            <a:avLst/>
          </a:prstGeom>
          <a:noFill/>
        </p:spPr>
        <p:txBody>
          <a:bodyPr wrap="square">
            <a:spAutoFit/>
          </a:bodyPr>
          <a:lstStyle/>
          <a:p>
            <a:pPr algn="l"/>
            <a:r>
              <a:rPr sz="1000">
                <a:solidFill>
                  <a:srgbClr val="99A0AB"/>
                </a:solidFill>
                <a:latin typeface="Roboto"/>
              </a:rPr>
              <a:t>steadier than the thing it beats</a:t>
            </a:r>
          </a:p>
        </p:txBody>
      </p:sp>
      <p:sp>
        <p:nvSpPr>
          <p:cNvPr id="13" name="Rounded Rectangle 12"/>
          <p:cNvSpPr/>
          <p:nvPr/>
        </p:nvSpPr>
        <p:spPr>
          <a:xfrm>
            <a:off x="8065007" y="4160520"/>
            <a:ext cx="3520440" cy="1417320"/>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3" y="4306824"/>
            <a:ext cx="3154680" cy="502920"/>
          </a:xfrm>
          <a:prstGeom prst="rect">
            <a:avLst/>
          </a:prstGeom>
          <a:noFill/>
        </p:spPr>
        <p:txBody>
          <a:bodyPr wrap="square">
            <a:spAutoFit/>
          </a:bodyPr>
          <a:lstStyle/>
          <a:p>
            <a:pPr algn="l"/>
            <a:r>
              <a:rPr sz="2600" b="1">
                <a:solidFill>
                  <a:srgbClr val="E0A33C"/>
                </a:solidFill>
                <a:latin typeface="Roboto Mono"/>
              </a:rPr>
              <a:t>−0.28</a:t>
            </a:r>
          </a:p>
        </p:txBody>
      </p:sp>
      <p:sp>
        <p:nvSpPr>
          <p:cNvPr id="15" name="TextBox 14"/>
          <p:cNvSpPr txBox="1"/>
          <p:nvPr/>
        </p:nvSpPr>
        <p:spPr>
          <a:xfrm>
            <a:off x="8284463" y="4818888"/>
            <a:ext cx="3154680" cy="256032"/>
          </a:xfrm>
          <a:prstGeom prst="rect">
            <a:avLst/>
          </a:prstGeom>
          <a:noFill/>
        </p:spPr>
        <p:txBody>
          <a:bodyPr wrap="square">
            <a:spAutoFit/>
          </a:bodyPr>
          <a:lstStyle/>
          <a:p>
            <a:pPr algn="l"/>
            <a:r>
              <a:rPr sz="850" b="1">
                <a:solidFill>
                  <a:srgbClr val="767D88"/>
                </a:solidFill>
                <a:latin typeface="Roboto Mono"/>
              </a:rPr>
              <a:t>GROUPED BY HOUR</a:t>
            </a:r>
          </a:p>
        </p:txBody>
      </p:sp>
      <p:sp>
        <p:nvSpPr>
          <p:cNvPr id="16" name="TextBox 15"/>
          <p:cNvSpPr txBox="1"/>
          <p:nvPr/>
        </p:nvSpPr>
        <p:spPr>
          <a:xfrm>
            <a:off x="8284463" y="5074920"/>
            <a:ext cx="3154680" cy="457200"/>
          </a:xfrm>
          <a:prstGeom prst="rect">
            <a:avLst/>
          </a:prstGeom>
          <a:noFill/>
        </p:spPr>
        <p:txBody>
          <a:bodyPr wrap="square">
            <a:spAutoFit/>
          </a:bodyPr>
          <a:lstStyle/>
          <a:p>
            <a:pPr algn="l"/>
            <a:r>
              <a:rPr sz="1000">
                <a:solidFill>
                  <a:srgbClr val="99A0AB"/>
                </a:solidFill>
                <a:latin typeface="Roboto"/>
              </a:rPr>
              <a:t>a clean negative result, kept in the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10     THE CONTROL</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The control that reframed the whole project</a:t>
            </a:r>
          </a:p>
        </p:txBody>
      </p:sp>
      <p:sp>
        <p:nvSpPr>
          <p:cNvPr id="4" name="TextBox 3"/>
          <p:cNvSpPr txBox="1"/>
          <p:nvPr/>
        </p:nvSpPr>
        <p:spPr>
          <a:xfrm>
            <a:off x="566928" y="1645920"/>
            <a:ext cx="10607040" cy="914400"/>
          </a:xfrm>
          <a:prstGeom prst="rect">
            <a:avLst/>
          </a:prstGeom>
          <a:noFill/>
        </p:spPr>
        <p:txBody>
          <a:bodyPr wrap="square">
            <a:spAutoFit/>
          </a:bodyPr>
          <a:lstStyle/>
          <a:p>
            <a:pPr algn="l">
              <a:spcAft>
                <a:spcPts val="600"/>
              </a:spcAft>
            </a:pPr>
            <a:r>
              <a:rPr sz="1500" b="0">
                <a:solidFill>
                  <a:srgbClr val="99A0AB"/>
                </a:solidFill>
                <a:latin typeface="Roboto"/>
              </a:rPr>
              <a:t>"Gradient boosting beats the baseline by 25.6%" is ambiguous. Is that the algorithm — or the feature engineering, which any model would have benefited from?</a:t>
            </a:r>
          </a:p>
        </p:txBody>
      </p:sp>
      <p:sp>
        <p:nvSpPr>
          <p:cNvPr id="5" name="TextBox 4"/>
          <p:cNvSpPr txBox="1"/>
          <p:nvPr/>
        </p:nvSpPr>
        <p:spPr>
          <a:xfrm>
            <a:off x="566928" y="2514600"/>
            <a:ext cx="11064240" cy="822960"/>
          </a:xfrm>
          <a:prstGeom prst="rect">
            <a:avLst/>
          </a:prstGeom>
          <a:noFill/>
        </p:spPr>
        <p:txBody>
          <a:bodyPr wrap="square">
            <a:spAutoFit/>
          </a:bodyPr>
          <a:lstStyle/>
          <a:p>
            <a:pPr algn="l"/>
            <a:r>
              <a:rPr sz="3000" b="0">
                <a:solidFill>
                  <a:srgbClr val="99A0AB"/>
                </a:solidFill>
                <a:latin typeface="Roboto Mono"/>
              </a:rPr>
              <a:t>ridge  </a:t>
            </a:r>
            <a:r>
              <a:rPr sz="3000" b="1">
                <a:solidFill>
                  <a:srgbClr val="767D88"/>
                </a:solidFill>
                <a:latin typeface="Roboto Mono"/>
              </a:rPr>
              <a:t>19.67</a:t>
            </a:r>
            <a:r>
              <a:rPr sz="3000" b="0">
                <a:solidFill>
                  <a:srgbClr val="99A0AB"/>
                </a:solidFill>
                <a:latin typeface="Roboto Mono"/>
              </a:rPr>
              <a:t>      boosting  </a:t>
            </a:r>
            <a:r>
              <a:rPr sz="3000" b="1">
                <a:solidFill>
                  <a:srgbClr val="3ECF8E"/>
                </a:solidFill>
                <a:latin typeface="Roboto Mono"/>
              </a:rPr>
              <a:t>19.56</a:t>
            </a:r>
          </a:p>
        </p:txBody>
      </p:sp>
      <p:sp>
        <p:nvSpPr>
          <p:cNvPr id="6" name="TextBox 5"/>
          <p:cNvSpPr txBox="1"/>
          <p:nvPr/>
        </p:nvSpPr>
        <p:spPr>
          <a:xfrm>
            <a:off x="566928" y="3200400"/>
            <a:ext cx="10972800" cy="320040"/>
          </a:xfrm>
          <a:prstGeom prst="rect">
            <a:avLst/>
          </a:prstGeom>
          <a:noFill/>
        </p:spPr>
        <p:txBody>
          <a:bodyPr wrap="square">
            <a:spAutoFit/>
          </a:bodyPr>
          <a:lstStyle/>
          <a:p>
            <a:pPr algn="l">
              <a:spcAft>
                <a:spcPts val="600"/>
              </a:spcAft>
            </a:pPr>
            <a:r>
              <a:rPr sz="1300" b="0">
                <a:solidFill>
                  <a:srgbClr val="767D88"/>
                </a:solidFill>
                <a:latin typeface="Roboto Mono"/>
              </a:rPr>
              <a:t>difference +0.11,  95% CI [−0.72, +0.93]  —  not distinguishable from noise</a:t>
            </a:r>
          </a:p>
        </p:txBody>
      </p:sp>
      <p:sp>
        <p:nvSpPr>
          <p:cNvPr id="7" name="Rectangle 6"/>
          <p:cNvSpPr/>
          <p:nvPr/>
        </p:nvSpPr>
        <p:spPr>
          <a:xfrm>
            <a:off x="566928" y="3703320"/>
            <a:ext cx="41148" cy="1143000"/>
          </a:xfrm>
          <a:prstGeom prst="rect">
            <a:avLst/>
          </a:prstGeom>
          <a:solidFill>
            <a:srgbClr val="3EC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 y="3703320"/>
            <a:ext cx="11023092" cy="1143000"/>
          </a:xfrm>
          <a:prstGeom prst="rect">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831335"/>
            <a:ext cx="10607040" cy="960120"/>
          </a:xfrm>
          <a:prstGeom prst="rect">
            <a:avLst/>
          </a:prstGeom>
          <a:noFill/>
        </p:spPr>
        <p:txBody>
          <a:bodyPr wrap="square">
            <a:spAutoFit/>
          </a:bodyPr>
          <a:lstStyle/>
          <a:p>
            <a:pPr algn="l">
              <a:spcAft>
                <a:spcPts val="600"/>
              </a:spcAft>
            </a:pPr>
            <a:r>
              <a:rPr sz="1300" b="0">
                <a:solidFill>
                  <a:srgbClr val="D9DCE2"/>
                </a:solidFill>
                <a:latin typeface="Roboto"/>
              </a:rPr>
              <a:t>Of the 6.72 the model gains over the naive baseline, 6.61 is available to a linear model on the same features. Almost all of the value came from the feature engineering and the leakage discipline — and almost none from the learning algorithm.</a:t>
            </a:r>
          </a:p>
        </p:txBody>
      </p:sp>
      <p:sp>
        <p:nvSpPr>
          <p:cNvPr id="10" name="TextBox 9"/>
          <p:cNvSpPr txBox="1"/>
          <p:nvPr/>
        </p:nvSpPr>
        <p:spPr>
          <a:xfrm>
            <a:off x="566928" y="5120640"/>
            <a:ext cx="10607040" cy="914400"/>
          </a:xfrm>
          <a:prstGeom prst="rect">
            <a:avLst/>
          </a:prstGeom>
          <a:noFill/>
        </p:spPr>
        <p:txBody>
          <a:bodyPr wrap="square">
            <a:spAutoFit/>
          </a:bodyPr>
          <a:lstStyle/>
          <a:p>
            <a:pPr algn="l">
              <a:spcAft>
                <a:spcPts val="600"/>
              </a:spcAft>
            </a:pPr>
            <a:r>
              <a:rPr sz="1400" b="0">
                <a:solidFill>
                  <a:srgbClr val="D9DCE2"/>
                </a:solidFill>
                <a:latin typeface="Roboto"/>
              </a:rPr>
              <a:t>Boosting still ships, on a different argument. Not accuracy — stability. Ridge swings 14.4 to 24.2 across folds where boosting holds 16.5 to 22.2, and ridge's bad days are worse (p90 day 34.4 against 31.6).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11     INTERVALS</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The intervals failed twice — only one was a bug</a:t>
            </a:r>
          </a:p>
        </p:txBody>
      </p:sp>
      <p:graphicFrame>
        <p:nvGraphicFramePr>
          <p:cNvPr id="4" name="Table 3"/>
          <p:cNvGraphicFramePr>
            <a:graphicFrameLocks noGrp="1"/>
          </p:cNvGraphicFramePr>
          <p:nvPr/>
        </p:nvGraphicFramePr>
        <p:xfrm>
          <a:off x="566928" y="1737360"/>
          <a:ext cx="11064240" cy="1243584"/>
        </p:xfrm>
        <a:graphic>
          <a:graphicData uri="http://schemas.openxmlformats.org/drawingml/2006/table">
            <a:tbl>
              <a:tblPr firstRow="1" bandRow="1">
                <a:tableStyleId>{5C22544A-7EE6-4342-B048-85BDC9FD1C3A}</a:tableStyleId>
              </a:tblPr>
              <a:tblGrid>
                <a:gridCol w="5120640"/>
                <a:gridCol w="1554480"/>
                <a:gridCol w="1463040"/>
                <a:gridCol w="1463040"/>
                <a:gridCol w="1463040"/>
              </a:tblGrid>
              <a:tr h="310896">
                <a:tc>
                  <a:txBody>
                    <a:bodyPr/>
                    <a:lstStyle/>
                    <a:p>
                      <a:pPr algn="l"/>
                      <a:r>
                        <a:rPr sz="900" b="1">
                          <a:solidFill>
                            <a:srgbClr val="767D88"/>
                          </a:solidFill>
                          <a:latin typeface="Roboto Mono"/>
                        </a:rPr>
                        <a:t>80% interval</a:t>
                      </a:r>
                    </a:p>
                  </a:txBody>
                  <a:tcPr marL="91440" marR="91440" marT="27432" marB="27432" anchor="ctr">
                    <a:solidFill>
                      <a:srgbClr val="1C1F23"/>
                    </a:solidFill>
                  </a:tcPr>
                </a:tc>
                <a:tc>
                  <a:txBody>
                    <a:bodyPr/>
                    <a:lstStyle/>
                    <a:p>
                      <a:pPr algn="l"/>
                      <a:r>
                        <a:rPr sz="900" b="1">
                          <a:solidFill>
                            <a:srgbClr val="767D88"/>
                          </a:solidFill>
                          <a:latin typeface="Roboto Mono"/>
                        </a:rPr>
                        <a:t>actual</a:t>
                      </a:r>
                    </a:p>
                  </a:txBody>
                  <a:tcPr marL="91440" marR="91440" marT="27432" marB="27432" anchor="ctr">
                    <a:solidFill>
                      <a:srgbClr val="1C1F23"/>
                    </a:solidFill>
                  </a:tcPr>
                </a:tc>
                <a:tc>
                  <a:txBody>
                    <a:bodyPr/>
                    <a:lstStyle/>
                    <a:p>
                      <a:pPr algn="l"/>
                      <a:r>
                        <a:rPr sz="900" b="1">
                          <a:solidFill>
                            <a:srgbClr val="767D88"/>
                          </a:solidFill>
                          <a:latin typeface="Roboto Mono"/>
                        </a:rPr>
                        <a:t>below</a:t>
                      </a:r>
                    </a:p>
                  </a:txBody>
                  <a:tcPr marL="91440" marR="91440" marT="27432" marB="27432" anchor="ctr">
                    <a:solidFill>
                      <a:srgbClr val="1C1F23"/>
                    </a:solidFill>
                  </a:tcPr>
                </a:tc>
                <a:tc>
                  <a:txBody>
                    <a:bodyPr/>
                    <a:lstStyle/>
                    <a:p>
                      <a:pPr algn="l"/>
                      <a:r>
                        <a:rPr sz="900" b="1">
                          <a:solidFill>
                            <a:srgbClr val="767D88"/>
                          </a:solidFill>
                          <a:latin typeface="Roboto Mono"/>
                        </a:rPr>
                        <a:t>above</a:t>
                      </a:r>
                    </a:p>
                  </a:txBody>
                  <a:tcPr marL="91440" marR="91440" marT="27432" marB="27432" anchor="ctr">
                    <a:solidFill>
                      <a:srgbClr val="1C1F23"/>
                    </a:solidFill>
                  </a:tcPr>
                </a:tc>
                <a:tc>
                  <a:txBody>
                    <a:bodyPr/>
                    <a:lstStyle/>
                    <a:p>
                      <a:pPr algn="l"/>
                      <a:r>
                        <a:rPr sz="900" b="1">
                          <a:solidFill>
                            <a:srgbClr val="767D88"/>
                          </a:solidFill>
                          <a:latin typeface="Roboto Mono"/>
                        </a:rPr>
                        <a:t>width</a:t>
                      </a:r>
                    </a:p>
                  </a:txBody>
                  <a:tcPr marL="91440" marR="91440" marT="27432" marB="27432" anchor="ctr">
                    <a:solidFill>
                      <a:srgbClr val="1C1F23"/>
                    </a:solidFill>
                  </a:tcPr>
                </a:tc>
              </a:tr>
              <a:tr h="310896">
                <a:tc>
                  <a:txBody>
                    <a:bodyPr/>
                    <a:lstStyle/>
                    <a:p>
                      <a:pPr algn="l"/>
                      <a:r>
                        <a:rPr sz="1200" b="0">
                          <a:solidFill>
                            <a:srgbClr val="E0A33C"/>
                          </a:solidFill>
                          <a:latin typeface="Roboto"/>
                        </a:rPr>
                        <a:t>quantile, MAE early stopping</a:t>
                      </a:r>
                    </a:p>
                  </a:txBody>
                  <a:tcPr marL="91440" marR="91440" marT="27432" marB="27432" anchor="ctr">
                    <a:solidFill>
                      <a:srgbClr val="2A2114"/>
                    </a:solidFill>
                  </a:tcPr>
                </a:tc>
                <a:tc>
                  <a:txBody>
                    <a:bodyPr/>
                    <a:lstStyle/>
                    <a:p>
                      <a:pPr algn="r"/>
                      <a:r>
                        <a:rPr sz="1200" b="0">
                          <a:solidFill>
                            <a:srgbClr val="E0A33C"/>
                          </a:solidFill>
                          <a:latin typeface="Roboto Mono"/>
                        </a:rPr>
                        <a:t>57.9%</a:t>
                      </a:r>
                    </a:p>
                  </a:txBody>
                  <a:tcPr marL="91440" marR="91440" marT="27432" marB="27432" anchor="ctr">
                    <a:solidFill>
                      <a:srgbClr val="2A2114"/>
                    </a:solidFill>
                  </a:tcPr>
                </a:tc>
                <a:tc>
                  <a:txBody>
                    <a:bodyPr/>
                    <a:lstStyle/>
                    <a:p>
                      <a:pPr algn="r"/>
                      <a:r>
                        <a:rPr sz="1200" b="0">
                          <a:solidFill>
                            <a:srgbClr val="E0A33C"/>
                          </a:solidFill>
                          <a:latin typeface="Roboto Mono"/>
                        </a:rPr>
                        <a:t>13.7%</a:t>
                      </a:r>
                    </a:p>
                  </a:txBody>
                  <a:tcPr marL="91440" marR="91440" marT="27432" marB="27432" anchor="ctr">
                    <a:solidFill>
                      <a:srgbClr val="2A2114"/>
                    </a:solidFill>
                  </a:tcPr>
                </a:tc>
                <a:tc>
                  <a:txBody>
                    <a:bodyPr/>
                    <a:lstStyle/>
                    <a:p>
                      <a:pPr algn="r"/>
                      <a:r>
                        <a:rPr sz="1200" b="0">
                          <a:solidFill>
                            <a:srgbClr val="E0A33C"/>
                          </a:solidFill>
                          <a:latin typeface="Roboto Mono"/>
                        </a:rPr>
                        <a:t>28.5%</a:t>
                      </a:r>
                    </a:p>
                  </a:txBody>
                  <a:tcPr marL="91440" marR="91440" marT="27432" marB="27432" anchor="ctr">
                    <a:solidFill>
                      <a:srgbClr val="2A2114"/>
                    </a:solidFill>
                  </a:tcPr>
                </a:tc>
                <a:tc>
                  <a:txBody>
                    <a:bodyPr/>
                    <a:lstStyle/>
                    <a:p>
                      <a:pPr algn="r"/>
                      <a:r>
                        <a:rPr sz="1200" b="0">
                          <a:solidFill>
                            <a:srgbClr val="E0A33C"/>
                          </a:solidFill>
                          <a:latin typeface="Roboto Mono"/>
                        </a:rPr>
                        <a:t>39.5</a:t>
                      </a:r>
                    </a:p>
                  </a:txBody>
                  <a:tcPr marL="91440" marR="91440" marT="27432" marB="27432" anchor="ctr">
                    <a:solidFill>
                      <a:srgbClr val="2A2114"/>
                    </a:solidFill>
                  </a:tcPr>
                </a:tc>
              </a:tr>
              <a:tr h="310896">
                <a:tc>
                  <a:txBody>
                    <a:bodyPr/>
                    <a:lstStyle/>
                    <a:p>
                      <a:pPr algn="l"/>
                      <a:r>
                        <a:rPr sz="1200" b="0">
                          <a:solidFill>
                            <a:srgbClr val="D9DCE2"/>
                          </a:solidFill>
                          <a:latin typeface="Roboto"/>
                        </a:rPr>
                        <a:t>quantile, pinball early stopping</a:t>
                      </a:r>
                    </a:p>
                  </a:txBody>
                  <a:tcPr marL="91440" marR="91440" marT="27432" marB="27432" anchor="ctr">
                    <a:solidFill>
                      <a:srgbClr val="0D0E10"/>
                    </a:solidFill>
                  </a:tcPr>
                </a:tc>
                <a:tc>
                  <a:txBody>
                    <a:bodyPr/>
                    <a:lstStyle/>
                    <a:p>
                      <a:pPr algn="r"/>
                      <a:r>
                        <a:rPr sz="1200" b="0">
                          <a:solidFill>
                            <a:srgbClr val="D9DCE2"/>
                          </a:solidFill>
                          <a:latin typeface="Roboto Mono"/>
                        </a:rPr>
                        <a:t>70.3%</a:t>
                      </a:r>
                    </a:p>
                  </a:txBody>
                  <a:tcPr marL="91440" marR="91440" marT="27432" marB="27432" anchor="ctr">
                    <a:solidFill>
                      <a:srgbClr val="0D0E10"/>
                    </a:solidFill>
                  </a:tcPr>
                </a:tc>
                <a:tc>
                  <a:txBody>
                    <a:bodyPr/>
                    <a:lstStyle/>
                    <a:p>
                      <a:pPr algn="r"/>
                      <a:r>
                        <a:rPr sz="1200" b="0">
                          <a:solidFill>
                            <a:srgbClr val="D9DCE2"/>
                          </a:solidFill>
                          <a:latin typeface="Roboto Mono"/>
                        </a:rPr>
                        <a:t>13.2%</a:t>
                      </a:r>
                    </a:p>
                  </a:txBody>
                  <a:tcPr marL="91440" marR="91440" marT="27432" marB="27432" anchor="ctr">
                    <a:solidFill>
                      <a:srgbClr val="0D0E10"/>
                    </a:solidFill>
                  </a:tcPr>
                </a:tc>
                <a:tc>
                  <a:txBody>
                    <a:bodyPr/>
                    <a:lstStyle/>
                    <a:p>
                      <a:pPr algn="r"/>
                      <a:r>
                        <a:rPr sz="1200" b="0">
                          <a:solidFill>
                            <a:srgbClr val="D9DCE2"/>
                          </a:solidFill>
                          <a:latin typeface="Roboto Mono"/>
                        </a:rPr>
                        <a:t>16.5%</a:t>
                      </a:r>
                    </a:p>
                  </a:txBody>
                  <a:tcPr marL="91440" marR="91440" marT="27432" marB="27432" anchor="ctr">
                    <a:solidFill>
                      <a:srgbClr val="0D0E10"/>
                    </a:solidFill>
                  </a:tcPr>
                </a:tc>
                <a:tc>
                  <a:txBody>
                    <a:bodyPr/>
                    <a:lstStyle/>
                    <a:p>
                      <a:pPr algn="r"/>
                      <a:r>
                        <a:rPr sz="1200" b="0">
                          <a:solidFill>
                            <a:srgbClr val="D9DCE2"/>
                          </a:solidFill>
                          <a:latin typeface="Roboto Mono"/>
                        </a:rPr>
                        <a:t>51.7</a:t>
                      </a:r>
                    </a:p>
                  </a:txBody>
                  <a:tcPr marL="91440" marR="91440" marT="27432" marB="27432" anchor="ctr">
                    <a:solidFill>
                      <a:srgbClr val="0D0E10"/>
                    </a:solidFill>
                  </a:tcPr>
                </a:tc>
              </a:tr>
              <a:tr h="310896">
                <a:tc>
                  <a:txBody>
                    <a:bodyPr/>
                    <a:lstStyle/>
                    <a:p>
                      <a:pPr algn="l"/>
                      <a:r>
                        <a:rPr sz="1200" b="0">
                          <a:solidFill>
                            <a:srgbClr val="3ECF8E"/>
                          </a:solidFill>
                          <a:latin typeface="Roboto"/>
                        </a:rPr>
                        <a:t>+ conformal calibration, per side</a:t>
                      </a:r>
                    </a:p>
                  </a:txBody>
                  <a:tcPr marL="91440" marR="91440" marT="27432" marB="27432" anchor="ctr">
                    <a:solidFill>
                      <a:srgbClr val="142A22"/>
                    </a:solidFill>
                  </a:tcPr>
                </a:tc>
                <a:tc>
                  <a:txBody>
                    <a:bodyPr/>
                    <a:lstStyle/>
                    <a:p>
                      <a:pPr algn="r"/>
                      <a:r>
                        <a:rPr sz="1200" b="0">
                          <a:solidFill>
                            <a:srgbClr val="3ECF8E"/>
                          </a:solidFill>
                          <a:latin typeface="Roboto Mono"/>
                        </a:rPr>
                        <a:t>80.4%</a:t>
                      </a:r>
                    </a:p>
                  </a:txBody>
                  <a:tcPr marL="91440" marR="91440" marT="27432" marB="27432" anchor="ctr">
                    <a:solidFill>
                      <a:srgbClr val="142A22"/>
                    </a:solidFill>
                  </a:tcPr>
                </a:tc>
                <a:tc>
                  <a:txBody>
                    <a:bodyPr/>
                    <a:lstStyle/>
                    <a:p>
                      <a:pPr algn="r"/>
                      <a:r>
                        <a:rPr sz="1200" b="0">
                          <a:solidFill>
                            <a:srgbClr val="3ECF8E"/>
                          </a:solidFill>
                          <a:latin typeface="Roboto Mono"/>
                        </a:rPr>
                        <a:t>8.4%</a:t>
                      </a:r>
                    </a:p>
                  </a:txBody>
                  <a:tcPr marL="91440" marR="91440" marT="27432" marB="27432" anchor="ctr">
                    <a:solidFill>
                      <a:srgbClr val="142A22"/>
                    </a:solidFill>
                  </a:tcPr>
                </a:tc>
                <a:tc>
                  <a:txBody>
                    <a:bodyPr/>
                    <a:lstStyle/>
                    <a:p>
                      <a:pPr algn="r"/>
                      <a:r>
                        <a:rPr sz="1200" b="0">
                          <a:solidFill>
                            <a:srgbClr val="3ECF8E"/>
                          </a:solidFill>
                          <a:latin typeface="Roboto Mono"/>
                        </a:rPr>
                        <a:t>11.1%</a:t>
                      </a:r>
                    </a:p>
                  </a:txBody>
                  <a:tcPr marL="91440" marR="91440" marT="27432" marB="27432" anchor="ctr">
                    <a:solidFill>
                      <a:srgbClr val="142A22"/>
                    </a:solidFill>
                  </a:tcPr>
                </a:tc>
                <a:tc>
                  <a:txBody>
                    <a:bodyPr/>
                    <a:lstStyle/>
                    <a:p>
                      <a:pPr algn="r"/>
                      <a:r>
                        <a:rPr sz="1200" b="0">
                          <a:solidFill>
                            <a:srgbClr val="3ECF8E"/>
                          </a:solidFill>
                          <a:latin typeface="Roboto Mono"/>
                        </a:rPr>
                        <a:t>69.0</a:t>
                      </a:r>
                    </a:p>
                  </a:txBody>
                  <a:tcPr marL="91440" marR="91440" marT="27432" marB="27432" anchor="ctr">
                    <a:solidFill>
                      <a:srgbClr val="142A22"/>
                    </a:solidFill>
                  </a:tcPr>
                </a:tc>
              </a:tr>
            </a:tbl>
          </a:graphicData>
        </a:graphic>
      </p:graphicFrame>
      <p:sp>
        <p:nvSpPr>
          <p:cNvPr id="5" name="TextBox 4"/>
          <p:cNvSpPr txBox="1"/>
          <p:nvPr/>
        </p:nvSpPr>
        <p:spPr>
          <a:xfrm>
            <a:off x="566928" y="3246120"/>
            <a:ext cx="11064240" cy="320040"/>
          </a:xfrm>
          <a:prstGeom prst="rect">
            <a:avLst/>
          </a:prstGeom>
          <a:noFill/>
        </p:spPr>
        <p:txBody>
          <a:bodyPr wrap="square">
            <a:spAutoFit/>
          </a:bodyPr>
          <a:lstStyle/>
          <a:p>
            <a:pPr algn="l">
              <a:spcAft>
                <a:spcPts val="600"/>
              </a:spcAft>
            </a:pPr>
            <a:r>
              <a:rPr sz="1200" b="1">
                <a:solidFill>
                  <a:srgbClr val="E0A33C"/>
                </a:solidFill>
                <a:latin typeface="Roboto Mono"/>
              </a:rPr>
              <a:t>FAILURE 1 — a bug, and an invisible one</a:t>
            </a:r>
          </a:p>
        </p:txBody>
      </p:sp>
      <p:sp>
        <p:nvSpPr>
          <p:cNvPr id="6" name="TextBox 5"/>
          <p:cNvSpPr txBox="1"/>
          <p:nvPr/>
        </p:nvSpPr>
        <p:spPr>
          <a:xfrm>
            <a:off x="566928" y="3566160"/>
            <a:ext cx="10607040" cy="914400"/>
          </a:xfrm>
          <a:prstGeom prst="rect">
            <a:avLst/>
          </a:prstGeom>
          <a:noFill/>
        </p:spPr>
        <p:txBody>
          <a:bodyPr wrap="square">
            <a:spAutoFit/>
          </a:bodyPr>
          <a:lstStyle/>
          <a:p>
            <a:pPr algn="l">
              <a:spcAft>
                <a:spcPts val="600"/>
              </a:spcAft>
            </a:pPr>
            <a:r>
              <a:rPr sz="1350" b="0">
                <a:solidFill>
                  <a:srgbClr val="D9DCE2"/>
                </a:solidFill>
                <a:latin typeface="Roboto"/>
              </a:rPr>
              <a:t>Early stopping graded every model with MAE. But MAE is minimised by the MEDIAN, so judging a 90th-percentile model by MAE stops it exactly where it is least like a 90th percentile. Nothing crashed; the point forecast was untouched. Only a coverage target fixed in advance caught it.</a:t>
            </a:r>
          </a:p>
        </p:txBody>
      </p:sp>
      <p:sp>
        <p:nvSpPr>
          <p:cNvPr id="7" name="TextBox 6"/>
          <p:cNvSpPr txBox="1"/>
          <p:nvPr/>
        </p:nvSpPr>
        <p:spPr>
          <a:xfrm>
            <a:off x="566928" y="4709160"/>
            <a:ext cx="11064240" cy="320040"/>
          </a:xfrm>
          <a:prstGeom prst="rect">
            <a:avLst/>
          </a:prstGeom>
          <a:noFill/>
        </p:spPr>
        <p:txBody>
          <a:bodyPr wrap="square">
            <a:spAutoFit/>
          </a:bodyPr>
          <a:lstStyle/>
          <a:p>
            <a:pPr algn="l">
              <a:spcAft>
                <a:spcPts val="600"/>
              </a:spcAft>
            </a:pPr>
            <a:r>
              <a:rPr sz="1200" b="1">
                <a:solidFill>
                  <a:srgbClr val="3ECF8E"/>
                </a:solidFill>
                <a:latin typeface="Roboto Mono"/>
              </a:rPr>
              <a:t>FAILURE 2 — not a bug at all</a:t>
            </a:r>
          </a:p>
        </p:txBody>
      </p:sp>
      <p:sp>
        <p:nvSpPr>
          <p:cNvPr id="8" name="TextBox 7"/>
          <p:cNvSpPr txBox="1"/>
          <p:nvPr/>
        </p:nvSpPr>
        <p:spPr>
          <a:xfrm>
            <a:off x="566928" y="5029200"/>
            <a:ext cx="10607040" cy="914400"/>
          </a:xfrm>
          <a:prstGeom prst="rect">
            <a:avLst/>
          </a:prstGeom>
          <a:noFill/>
        </p:spPr>
        <p:txBody>
          <a:bodyPr wrap="square">
            <a:spAutoFit/>
          </a:bodyPr>
          <a:lstStyle/>
          <a:p>
            <a:pPr algn="l">
              <a:spcAft>
                <a:spcPts val="600"/>
              </a:spcAft>
            </a:pPr>
            <a:r>
              <a:rPr sz="1350" b="0">
                <a:solidFill>
                  <a:srgbClr val="D9DCE2"/>
                </a:solidFill>
                <a:latin typeface="Roboto"/>
              </a:rPr>
              <a:t>Quantile regression is overconfident by construction: its quantiles are fitted on rows already seen, so they describe how wrong it WAS. The fix measures rather than trusts — hold back recent data, see how far outside the interval reality actually fell, pad by exactly that much.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12     VALIDATION</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The most useful thing I found: the model shrinks</a:t>
            </a:r>
          </a:p>
        </p:txBody>
      </p:sp>
      <p:sp>
        <p:nvSpPr>
          <p:cNvPr id="4" name="Rectangle 3"/>
          <p:cNvSpPr/>
          <p:nvPr/>
        </p:nvSpPr>
        <p:spPr>
          <a:xfrm>
            <a:off x="822960" y="3246120"/>
            <a:ext cx="10607040" cy="10972"/>
          </a:xfrm>
          <a:prstGeom prst="rect">
            <a:avLst/>
          </a:prstGeom>
          <a:solidFill>
            <a:srgbClr val="2A2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3115223"/>
            <a:ext cx="1417320" cy="130896"/>
          </a:xfrm>
          <a:prstGeom prst="rect">
            <a:avLst/>
          </a:prstGeom>
          <a:solidFill>
            <a:srgbClr val="7A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822615"/>
            <a:ext cx="1691640" cy="274320"/>
          </a:xfrm>
          <a:prstGeom prst="rect">
            <a:avLst/>
          </a:prstGeom>
          <a:noFill/>
        </p:spPr>
        <p:txBody>
          <a:bodyPr wrap="square">
            <a:spAutoFit/>
          </a:bodyPr>
          <a:lstStyle/>
          <a:p>
            <a:pPr algn="ctr">
              <a:spcAft>
                <a:spcPts val="600"/>
              </a:spcAft>
            </a:pPr>
            <a:r>
              <a:rPr sz="1300" b="1">
                <a:solidFill>
                  <a:srgbClr val="7AA2F7"/>
                </a:solidFill>
                <a:latin typeface="Roboto Mono"/>
              </a:rPr>
              <a:t>+8.2</a:t>
            </a:r>
          </a:p>
        </p:txBody>
      </p:sp>
      <p:sp>
        <p:nvSpPr>
          <p:cNvPr id="7" name="TextBox 6"/>
          <p:cNvSpPr txBox="1"/>
          <p:nvPr/>
        </p:nvSpPr>
        <p:spPr>
          <a:xfrm>
            <a:off x="1234440" y="3300984"/>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negative</a:t>
            </a:r>
          </a:p>
        </p:txBody>
      </p:sp>
      <p:sp>
        <p:nvSpPr>
          <p:cNvPr id="8" name="Rectangle 7"/>
          <p:cNvSpPr/>
          <p:nvPr/>
        </p:nvSpPr>
        <p:spPr>
          <a:xfrm>
            <a:off x="3035808" y="3023372"/>
            <a:ext cx="1417320" cy="222747"/>
          </a:xfrm>
          <a:prstGeom prst="rect">
            <a:avLst/>
          </a:prstGeom>
          <a:solidFill>
            <a:srgbClr val="7A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8648" y="2730764"/>
            <a:ext cx="1691640" cy="274320"/>
          </a:xfrm>
          <a:prstGeom prst="rect">
            <a:avLst/>
          </a:prstGeom>
          <a:noFill/>
        </p:spPr>
        <p:txBody>
          <a:bodyPr wrap="square">
            <a:spAutoFit/>
          </a:bodyPr>
          <a:lstStyle/>
          <a:p>
            <a:pPr algn="ctr">
              <a:spcAft>
                <a:spcPts val="600"/>
              </a:spcAft>
            </a:pPr>
            <a:r>
              <a:rPr sz="1300" b="1">
                <a:solidFill>
                  <a:srgbClr val="7AA2F7"/>
                </a:solidFill>
                <a:latin typeface="Roboto Mono"/>
              </a:rPr>
              <a:t>+13.9</a:t>
            </a:r>
          </a:p>
        </p:txBody>
      </p:sp>
      <p:sp>
        <p:nvSpPr>
          <p:cNvPr id="10" name="TextBox 9"/>
          <p:cNvSpPr txBox="1"/>
          <p:nvPr/>
        </p:nvSpPr>
        <p:spPr>
          <a:xfrm>
            <a:off x="2898648" y="3300984"/>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0–20</a:t>
            </a:r>
          </a:p>
        </p:txBody>
      </p:sp>
      <p:sp>
        <p:nvSpPr>
          <p:cNvPr id="11" name="Rectangle 10"/>
          <p:cNvSpPr/>
          <p:nvPr/>
        </p:nvSpPr>
        <p:spPr>
          <a:xfrm>
            <a:off x="4700016" y="3196033"/>
            <a:ext cx="1417320" cy="50086"/>
          </a:xfrm>
          <a:prstGeom prst="rect">
            <a:avLst/>
          </a:prstGeom>
          <a:solidFill>
            <a:srgbClr val="7A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2903425"/>
            <a:ext cx="1691640" cy="274320"/>
          </a:xfrm>
          <a:prstGeom prst="rect">
            <a:avLst/>
          </a:prstGeom>
          <a:noFill/>
        </p:spPr>
        <p:txBody>
          <a:bodyPr wrap="square">
            <a:spAutoFit/>
          </a:bodyPr>
          <a:lstStyle/>
          <a:p>
            <a:pPr algn="ctr">
              <a:spcAft>
                <a:spcPts val="600"/>
              </a:spcAft>
            </a:pPr>
            <a:r>
              <a:rPr sz="1300" b="1">
                <a:solidFill>
                  <a:srgbClr val="7AA2F7"/>
                </a:solidFill>
                <a:latin typeface="Roboto Mono"/>
              </a:rPr>
              <a:t>+3.1</a:t>
            </a:r>
          </a:p>
        </p:txBody>
      </p:sp>
      <p:sp>
        <p:nvSpPr>
          <p:cNvPr id="13" name="TextBox 12"/>
          <p:cNvSpPr txBox="1"/>
          <p:nvPr/>
        </p:nvSpPr>
        <p:spPr>
          <a:xfrm>
            <a:off x="4562856" y="3300984"/>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20–50</a:t>
            </a:r>
          </a:p>
        </p:txBody>
      </p:sp>
      <p:sp>
        <p:nvSpPr>
          <p:cNvPr id="14" name="Rectangle 13"/>
          <p:cNvSpPr/>
          <p:nvPr/>
        </p:nvSpPr>
        <p:spPr>
          <a:xfrm>
            <a:off x="6364224" y="3246120"/>
            <a:ext cx="1417320" cy="108973"/>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7064" y="3391669"/>
            <a:ext cx="1691640" cy="274320"/>
          </a:xfrm>
          <a:prstGeom prst="rect">
            <a:avLst/>
          </a:prstGeom>
          <a:noFill/>
        </p:spPr>
        <p:txBody>
          <a:bodyPr wrap="square">
            <a:spAutoFit/>
          </a:bodyPr>
          <a:lstStyle/>
          <a:p>
            <a:pPr algn="ctr">
              <a:spcAft>
                <a:spcPts val="600"/>
              </a:spcAft>
            </a:pPr>
            <a:r>
              <a:rPr sz="1300" b="1">
                <a:solidFill>
                  <a:srgbClr val="E0A33C"/>
                </a:solidFill>
                <a:latin typeface="Roboto Mono"/>
              </a:rPr>
              <a:t>-6.8</a:t>
            </a:r>
          </a:p>
        </p:txBody>
      </p:sp>
      <p:sp>
        <p:nvSpPr>
          <p:cNvPr id="16" name="TextBox 15"/>
          <p:cNvSpPr txBox="1"/>
          <p:nvPr/>
        </p:nvSpPr>
        <p:spPr>
          <a:xfrm>
            <a:off x="6227064" y="2953512"/>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50–100</a:t>
            </a:r>
          </a:p>
        </p:txBody>
      </p:sp>
      <p:sp>
        <p:nvSpPr>
          <p:cNvPr id="17" name="Rectangle 16"/>
          <p:cNvSpPr/>
          <p:nvPr/>
        </p:nvSpPr>
        <p:spPr>
          <a:xfrm>
            <a:off x="8028432" y="3246120"/>
            <a:ext cx="1417320" cy="313479"/>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91272" y="3596175"/>
            <a:ext cx="1691640" cy="274320"/>
          </a:xfrm>
          <a:prstGeom prst="rect">
            <a:avLst/>
          </a:prstGeom>
          <a:noFill/>
        </p:spPr>
        <p:txBody>
          <a:bodyPr wrap="square">
            <a:spAutoFit/>
          </a:bodyPr>
          <a:lstStyle/>
          <a:p>
            <a:pPr algn="ctr">
              <a:spcAft>
                <a:spcPts val="600"/>
              </a:spcAft>
            </a:pPr>
            <a:r>
              <a:rPr sz="1300" b="1">
                <a:solidFill>
                  <a:srgbClr val="E0A33C"/>
                </a:solidFill>
                <a:latin typeface="Roboto Mono"/>
              </a:rPr>
              <a:t>-19.6</a:t>
            </a:r>
          </a:p>
        </p:txBody>
      </p:sp>
      <p:sp>
        <p:nvSpPr>
          <p:cNvPr id="19" name="TextBox 18"/>
          <p:cNvSpPr txBox="1"/>
          <p:nvPr/>
        </p:nvSpPr>
        <p:spPr>
          <a:xfrm>
            <a:off x="7891272" y="2953512"/>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100–200</a:t>
            </a:r>
          </a:p>
        </p:txBody>
      </p:sp>
      <p:sp>
        <p:nvSpPr>
          <p:cNvPr id="20" name="Rectangle 19"/>
          <p:cNvSpPr/>
          <p:nvPr/>
        </p:nvSpPr>
        <p:spPr>
          <a:xfrm>
            <a:off x="9692640" y="3246120"/>
            <a:ext cx="1417320" cy="1564035"/>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5480" y="4846731"/>
            <a:ext cx="1691640" cy="274320"/>
          </a:xfrm>
          <a:prstGeom prst="rect">
            <a:avLst/>
          </a:prstGeom>
          <a:noFill/>
        </p:spPr>
        <p:txBody>
          <a:bodyPr wrap="square">
            <a:spAutoFit/>
          </a:bodyPr>
          <a:lstStyle/>
          <a:p>
            <a:pPr algn="ctr">
              <a:spcAft>
                <a:spcPts val="600"/>
              </a:spcAft>
            </a:pPr>
            <a:r>
              <a:rPr sz="1300" b="1">
                <a:solidFill>
                  <a:srgbClr val="E0A33C"/>
                </a:solidFill>
                <a:latin typeface="Roboto Mono"/>
              </a:rPr>
              <a:t>-97.7</a:t>
            </a:r>
          </a:p>
        </p:txBody>
      </p:sp>
      <p:sp>
        <p:nvSpPr>
          <p:cNvPr id="22" name="TextBox 21"/>
          <p:cNvSpPr txBox="1"/>
          <p:nvPr/>
        </p:nvSpPr>
        <p:spPr>
          <a:xfrm>
            <a:off x="9555480" y="2953512"/>
            <a:ext cx="1691640" cy="274320"/>
          </a:xfrm>
          <a:prstGeom prst="rect">
            <a:avLst/>
          </a:prstGeom>
          <a:noFill/>
        </p:spPr>
        <p:txBody>
          <a:bodyPr wrap="square">
            <a:spAutoFit/>
          </a:bodyPr>
          <a:lstStyle/>
          <a:p>
            <a:pPr algn="ctr">
              <a:spcAft>
                <a:spcPts val="600"/>
              </a:spcAft>
            </a:pPr>
            <a:r>
              <a:rPr sz="1050" b="0">
                <a:solidFill>
                  <a:srgbClr val="99A0AB"/>
                </a:solidFill>
                <a:latin typeface="Roboto Mono"/>
              </a:rPr>
              <a:t>200+</a:t>
            </a:r>
          </a:p>
        </p:txBody>
      </p:sp>
      <p:sp>
        <p:nvSpPr>
          <p:cNvPr id="23" name="TextBox 22"/>
          <p:cNvSpPr txBox="1"/>
          <p:nvPr/>
        </p:nvSpPr>
        <p:spPr>
          <a:xfrm>
            <a:off x="566928" y="1691640"/>
            <a:ext cx="4572000" cy="274320"/>
          </a:xfrm>
          <a:prstGeom prst="rect">
            <a:avLst/>
          </a:prstGeom>
          <a:noFill/>
        </p:spPr>
        <p:txBody>
          <a:bodyPr wrap="square">
            <a:spAutoFit/>
          </a:bodyPr>
          <a:lstStyle/>
          <a:p>
            <a:pPr algn="l">
              <a:spcAft>
                <a:spcPts val="600"/>
              </a:spcAft>
            </a:pPr>
            <a:r>
              <a:rPr sz="1100" b="0">
                <a:solidFill>
                  <a:srgbClr val="7AA2F7"/>
                </a:solidFill>
                <a:latin typeface="Roboto Mono"/>
              </a:rPr>
              <a:t>↑ predicts too HIGH</a:t>
            </a:r>
          </a:p>
        </p:txBody>
      </p:sp>
      <p:sp>
        <p:nvSpPr>
          <p:cNvPr id="24" name="TextBox 23"/>
          <p:cNvSpPr txBox="1"/>
          <p:nvPr/>
        </p:nvSpPr>
        <p:spPr>
          <a:xfrm>
            <a:off x="566928" y="5806440"/>
            <a:ext cx="4572000" cy="274320"/>
          </a:xfrm>
          <a:prstGeom prst="rect">
            <a:avLst/>
          </a:prstGeom>
          <a:noFill/>
        </p:spPr>
        <p:txBody>
          <a:bodyPr wrap="square">
            <a:spAutoFit/>
          </a:bodyPr>
          <a:lstStyle/>
          <a:p>
            <a:pPr algn="l">
              <a:spcAft>
                <a:spcPts val="600"/>
              </a:spcAft>
            </a:pPr>
            <a:r>
              <a:rPr sz="1100" b="0">
                <a:solidFill>
                  <a:srgbClr val="E0A33C"/>
                </a:solidFill>
                <a:latin typeface="Roboto Mono"/>
              </a:rPr>
              <a:t>↓ predicts too LOW</a:t>
            </a:r>
          </a:p>
        </p:txBody>
      </p:sp>
      <p:sp>
        <p:nvSpPr>
          <p:cNvPr id="25" name="TextBox 24"/>
          <p:cNvSpPr txBox="1"/>
          <p:nvPr/>
        </p:nvSpPr>
        <p:spPr>
          <a:xfrm>
            <a:off x="566928" y="6172200"/>
            <a:ext cx="11064240" cy="365760"/>
          </a:xfrm>
          <a:prstGeom prst="rect">
            <a:avLst/>
          </a:prstGeom>
          <a:noFill/>
        </p:spPr>
        <p:txBody>
          <a:bodyPr wrap="square">
            <a:spAutoFit/>
          </a:bodyPr>
          <a:lstStyle/>
          <a:p>
            <a:pPr algn="l">
              <a:spcAft>
                <a:spcPts val="600"/>
              </a:spcAft>
            </a:pPr>
            <a:r>
              <a:rPr sz="1300" b="0">
                <a:solidFill>
                  <a:srgbClr val="D9DCE2"/>
                </a:solidFill>
                <a:latin typeface="Roboto"/>
              </a:rPr>
              <a:t>Over-predicts cheap hours, under-predicts expensive ones — regression to the mean. One mechanism behind three symptoms: no value on spikes, no value on negative hours, and an interval that escapes through the ceiling.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13     VALIDATION</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Two more results that reversed earlier conclusions</a:t>
            </a:r>
          </a:p>
        </p:txBody>
      </p:sp>
      <p:sp>
        <p:nvSpPr>
          <p:cNvPr id="4" name="TextBox 3"/>
          <p:cNvSpPr txBox="1"/>
          <p:nvPr/>
        </p:nvSpPr>
        <p:spPr>
          <a:xfrm>
            <a:off x="566928" y="1645920"/>
            <a:ext cx="11064240" cy="320040"/>
          </a:xfrm>
          <a:prstGeom prst="rect">
            <a:avLst/>
          </a:prstGeom>
          <a:noFill/>
        </p:spPr>
        <p:txBody>
          <a:bodyPr wrap="square">
            <a:spAutoFit/>
          </a:bodyPr>
          <a:lstStyle/>
          <a:p>
            <a:pPr algn="l">
              <a:spcAft>
                <a:spcPts val="600"/>
              </a:spcAft>
            </a:pPr>
            <a:r>
              <a:rPr sz="1200" b="1">
                <a:solidFill>
                  <a:srgbClr val="3ECF8E"/>
                </a:solidFill>
                <a:latin typeface="Roboto Mono"/>
              </a:rPr>
              <a:t>THE OBSERVED-WEATHER FEATURES NOW EARN THEIR PLACE</a:t>
            </a:r>
          </a:p>
        </p:txBody>
      </p:sp>
      <p:sp>
        <p:nvSpPr>
          <p:cNvPr id="5" name="TextBox 4"/>
          <p:cNvSpPr txBox="1"/>
          <p:nvPr/>
        </p:nvSpPr>
        <p:spPr>
          <a:xfrm>
            <a:off x="566928" y="2011680"/>
            <a:ext cx="11064240" cy="822960"/>
          </a:xfrm>
          <a:prstGeom prst="rect">
            <a:avLst/>
          </a:prstGeom>
          <a:noFill/>
        </p:spPr>
        <p:txBody>
          <a:bodyPr wrap="square">
            <a:spAutoFit/>
          </a:bodyPr>
          <a:lstStyle/>
          <a:p>
            <a:pPr algn="l"/>
            <a:r>
              <a:rPr sz="2000" b="0">
                <a:solidFill>
                  <a:srgbClr val="99A0AB"/>
                </a:solidFill>
                <a:latin typeface="Roboto Mono"/>
              </a:rPr>
              <a:t>stage 4  </a:t>
            </a:r>
            <a:r>
              <a:rPr sz="2000" b="1">
                <a:solidFill>
                  <a:srgbClr val="767D88"/>
                </a:solidFill>
                <a:latin typeface="Roboto Mono"/>
              </a:rPr>
              <a:t>+0.07</a:t>
            </a:r>
            <a:r>
              <a:rPr sz="2000" b="0">
                <a:solidFill>
                  <a:srgbClr val="767D88"/>
                </a:solidFill>
                <a:latin typeface="Roboto Mono"/>
              </a:rPr>
              <a:t>  CI spans zero</a:t>
            </a:r>
            <a:r>
              <a:rPr sz="2000" b="0">
                <a:solidFill>
                  <a:srgbClr val="99A0AB"/>
                </a:solidFill>
                <a:latin typeface="Roboto Mono"/>
              </a:rPr>
              <a:t>        →        stage 6  </a:t>
            </a:r>
            <a:r>
              <a:rPr sz="2000" b="1">
                <a:solidFill>
                  <a:srgbClr val="3ECF8E"/>
                </a:solidFill>
                <a:latin typeface="Roboto Mono"/>
              </a:rPr>
              <a:t>+0.83</a:t>
            </a:r>
            <a:r>
              <a:rPr sz="2000" b="0">
                <a:solidFill>
                  <a:srgbClr val="3ECF8E"/>
                </a:solidFill>
                <a:latin typeface="Roboto Mono"/>
              </a:rPr>
              <a:t>  CI [+0.29, +1.33]</a:t>
            </a:r>
          </a:p>
        </p:txBody>
      </p:sp>
      <p:sp>
        <p:nvSpPr>
          <p:cNvPr id="6" name="TextBox 5"/>
          <p:cNvSpPr txBox="1"/>
          <p:nvPr/>
        </p:nvSpPr>
        <p:spPr>
          <a:xfrm>
            <a:off x="566928" y="2743200"/>
            <a:ext cx="10607040" cy="914400"/>
          </a:xfrm>
          <a:prstGeom prst="rect">
            <a:avLst/>
          </a:prstGeom>
          <a:noFill/>
        </p:spPr>
        <p:txBody>
          <a:bodyPr wrap="square">
            <a:spAutoFit/>
          </a:bodyPr>
          <a:lstStyle/>
          <a:p>
            <a:pPr algn="l">
              <a:spcAft>
                <a:spcPts val="600"/>
              </a:spcAft>
            </a:pPr>
            <a:r>
              <a:rPr sz="1400" b="0">
                <a:solidFill>
                  <a:srgbClr val="D9DCE2"/>
                </a:solidFill>
                <a:latin typeface="Roboto"/>
              </a:rPr>
              <a:t>The decision recorded in stage 4 was explicit: keep them, re-test once the model is stronger. The re-test vindicates it.</a:t>
            </a:r>
          </a:p>
        </p:txBody>
      </p:sp>
      <p:sp>
        <p:nvSpPr>
          <p:cNvPr id="7" name="Rectangle 6"/>
          <p:cNvSpPr/>
          <p:nvPr/>
        </p:nvSpPr>
        <p:spPr>
          <a:xfrm>
            <a:off x="566928" y="3246120"/>
            <a:ext cx="41148" cy="1371600"/>
          </a:xfrm>
          <a:prstGeom prst="rect">
            <a:avLst/>
          </a:prstGeom>
          <a:solidFill>
            <a:srgbClr val="7A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 y="3246120"/>
            <a:ext cx="11023092" cy="1371600"/>
          </a:xfrm>
          <a:prstGeom prst="rect">
            <a:avLst/>
          </a:prstGeom>
          <a:solidFill>
            <a:srgbClr val="1618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74136"/>
            <a:ext cx="10607040" cy="1188720"/>
          </a:xfrm>
          <a:prstGeom prst="rect">
            <a:avLst/>
          </a:prstGeom>
          <a:noFill/>
        </p:spPr>
        <p:txBody>
          <a:bodyPr wrap="square">
            <a:spAutoFit/>
          </a:bodyPr>
          <a:lstStyle/>
          <a:p>
            <a:pPr algn="l">
              <a:spcAft>
                <a:spcPts val="600"/>
              </a:spcAft>
            </a:pPr>
            <a:r>
              <a:rPr sz="1300" b="0">
                <a:solidFill>
                  <a:srgbClr val="D9DCE2"/>
                </a:solidFill>
                <a:latin typeface="Roboto"/>
              </a:rPr>
              <a:t>A method lesson worth more than the result.  Permutation importance rates that whole family at 0.464, but ablating it costs 0.826. Permutation shuffles ONE COLUMN AT A TIME — four correlated temperature columns each look useless because the other three still carry the signal. Single-column importance systematically understates correlated groups.</a:t>
            </a:r>
          </a:p>
        </p:txBody>
      </p:sp>
      <p:sp>
        <p:nvSpPr>
          <p:cNvPr id="10" name="TextBox 9"/>
          <p:cNvSpPr txBox="1"/>
          <p:nvPr/>
        </p:nvSpPr>
        <p:spPr>
          <a:xfrm>
            <a:off x="566928" y="4846320"/>
            <a:ext cx="11064240" cy="320040"/>
          </a:xfrm>
          <a:prstGeom prst="rect">
            <a:avLst/>
          </a:prstGeom>
          <a:noFill/>
        </p:spPr>
        <p:txBody>
          <a:bodyPr wrap="square">
            <a:spAutoFit/>
          </a:bodyPr>
          <a:lstStyle/>
          <a:p>
            <a:pPr algn="l">
              <a:spcAft>
                <a:spcPts val="600"/>
              </a:spcAft>
            </a:pPr>
            <a:r>
              <a:rPr sz="1200" b="1">
                <a:solidFill>
                  <a:srgbClr val="E0A33C"/>
                </a:solidFill>
                <a:latin typeface="Roboto Mono"/>
              </a:rPr>
              <a:t>AN EXPLORATORY FINDING THAT DID NOT TRANSFER</a:t>
            </a:r>
          </a:p>
        </p:txBody>
      </p:sp>
      <p:sp>
        <p:nvSpPr>
          <p:cNvPr id="11" name="TextBox 10"/>
          <p:cNvSpPr txBox="1"/>
          <p:nvPr/>
        </p:nvSpPr>
        <p:spPr>
          <a:xfrm>
            <a:off x="566928" y="5212080"/>
            <a:ext cx="10607040" cy="914400"/>
          </a:xfrm>
          <a:prstGeom prst="rect">
            <a:avLst/>
          </a:prstGeom>
          <a:noFill/>
        </p:spPr>
        <p:txBody>
          <a:bodyPr wrap="square">
            <a:spAutoFit/>
          </a:bodyPr>
          <a:lstStyle/>
          <a:p>
            <a:pPr algn="l">
              <a:spcAft>
                <a:spcPts val="600"/>
              </a:spcAft>
            </a:pPr>
            <a:r>
              <a:rPr sz="1350" b="0">
                <a:solidFill>
                  <a:srgbClr val="D9DCE2"/>
                </a:solidFill>
                <a:latin typeface="Roboto"/>
              </a:rPr>
              <a:t>Exploration found northern wind predicts SE3's price better than local wind (−0.260 vs −0.239). The model leans on LOCAL wind 4.7× harder. Both are right — they are different variables. On the FORECAST columns the model actually uses, the two zones are tied (−0.297 vs −0.296).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14     DISCIPLINE</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A change I could have made, and did not</a:t>
            </a:r>
          </a:p>
        </p:txBody>
      </p:sp>
      <p:sp>
        <p:nvSpPr>
          <p:cNvPr id="4" name="TextBox 3"/>
          <p:cNvSpPr txBox="1"/>
          <p:nvPr/>
        </p:nvSpPr>
        <p:spPr>
          <a:xfrm>
            <a:off x="566928" y="1645920"/>
            <a:ext cx="10607040" cy="914400"/>
          </a:xfrm>
          <a:prstGeom prst="rect">
            <a:avLst/>
          </a:prstGeom>
          <a:noFill/>
        </p:spPr>
        <p:txBody>
          <a:bodyPr wrap="square">
            <a:spAutoFit/>
          </a:bodyPr>
          <a:lstStyle/>
          <a:p>
            <a:pPr algn="l">
              <a:spcAft>
                <a:spcPts val="600"/>
              </a:spcAft>
            </a:pPr>
            <a:r>
              <a:rPr sz="1500" b="0">
                <a:solidFill>
                  <a:srgbClr val="99A0AB"/>
                </a:solidFill>
                <a:latin typeface="Roboto"/>
              </a:rPr>
              <a:t>Ten rolling-price features have negative permutation importance. Dropping them improves the reporting folds by +0.406, CI [+0.093, +0.708] — significant. A free improvement to my headline number.</a:t>
            </a:r>
          </a:p>
        </p:txBody>
      </p:sp>
      <p:graphicFrame>
        <p:nvGraphicFramePr>
          <p:cNvPr id="5" name="Table 4"/>
          <p:cNvGraphicFramePr>
            <a:graphicFrameLocks noGrp="1"/>
          </p:cNvGraphicFramePr>
          <p:nvPr/>
        </p:nvGraphicFramePr>
        <p:xfrm>
          <a:off x="566928" y="2743200"/>
          <a:ext cx="11064240" cy="932688"/>
        </p:xfrm>
        <a:graphic>
          <a:graphicData uri="http://schemas.openxmlformats.org/drawingml/2006/table">
            <a:tbl>
              <a:tblPr firstRow="1" bandRow="1">
                <a:tableStyleId>{5C22544A-7EE6-4342-B048-85BDC9FD1C3A}</a:tableStyleId>
              </a:tblPr>
              <a:tblGrid>
                <a:gridCol w="2926080"/>
                <a:gridCol w="3291840"/>
                <a:gridCol w="4846320"/>
              </a:tblGrid>
              <a:tr h="310896">
                <a:tc>
                  <a:txBody>
                    <a:bodyPr/>
                    <a:lstStyle/>
                    <a:p>
                      <a:pPr algn="l"/>
                      <a:r>
                        <a:rPr sz="900" b="1">
                          <a:solidFill>
                            <a:srgbClr val="767D88"/>
                          </a:solidFill>
                          <a:latin typeface="Roboto Mono"/>
                        </a:rPr>
                        <a:t>Folds</a:t>
                      </a:r>
                    </a:p>
                  </a:txBody>
                  <a:tcPr marL="91440" marR="91440" marT="27432" marB="27432" anchor="ctr">
                    <a:solidFill>
                      <a:srgbClr val="1C1F23"/>
                    </a:solidFill>
                  </a:tcPr>
                </a:tc>
                <a:tc>
                  <a:txBody>
                    <a:bodyPr/>
                    <a:lstStyle/>
                    <a:p>
                      <a:pPr algn="l"/>
                      <a:r>
                        <a:rPr sz="900" b="1">
                          <a:solidFill>
                            <a:srgbClr val="767D88"/>
                          </a:solidFill>
                          <a:latin typeface="Roboto Mono"/>
                        </a:rPr>
                        <a:t>dropping them is worth</a:t>
                      </a:r>
                    </a:p>
                  </a:txBody>
                  <a:tcPr marL="91440" marR="91440" marT="27432" marB="27432" anchor="ctr">
                    <a:solidFill>
                      <a:srgbClr val="1C1F23"/>
                    </a:solidFill>
                  </a:tcPr>
                </a:tc>
                <a:tc>
                  <a:txBody>
                    <a:bodyPr/>
                    <a:lstStyle/>
                    <a:p>
                      <a:pPr algn="l"/>
                      <a:r>
                        <a:rPr sz="900" b="1">
                          <a:solidFill>
                            <a:srgbClr val="767D88"/>
                          </a:solidFill>
                          <a:latin typeface="Roboto Mono"/>
                        </a:rPr>
                        <a:t>Verdict</a:t>
                      </a:r>
                    </a:p>
                  </a:txBody>
                  <a:tcPr marL="91440" marR="91440" marT="27432" marB="27432" anchor="ctr">
                    <a:solidFill>
                      <a:srgbClr val="1C1F23"/>
                    </a:solidFill>
                  </a:tcPr>
                </a:tc>
              </a:tr>
              <a:tr h="310896">
                <a:tc>
                  <a:txBody>
                    <a:bodyPr/>
                    <a:lstStyle/>
                    <a:p>
                      <a:pPr algn="l"/>
                      <a:r>
                        <a:rPr sz="1200" b="0">
                          <a:solidFill>
                            <a:srgbClr val="D9DCE2"/>
                          </a:solidFill>
                          <a:latin typeface="Roboto"/>
                        </a:rPr>
                        <a:t>tuning (5)</a:t>
                      </a:r>
                    </a:p>
                  </a:txBody>
                  <a:tcPr marL="91440" marR="91440" marT="27432" marB="27432" anchor="ctr">
                    <a:solidFill>
                      <a:srgbClr val="0D0E10"/>
                    </a:solidFill>
                  </a:tcPr>
                </a:tc>
                <a:tc>
                  <a:txBody>
                    <a:bodyPr/>
                    <a:lstStyle/>
                    <a:p>
                      <a:pPr algn="r"/>
                      <a:r>
                        <a:rPr sz="1200" b="0">
                          <a:solidFill>
                            <a:srgbClr val="D9DCE2"/>
                          </a:solidFill>
                          <a:latin typeface="Roboto Mono"/>
                        </a:rPr>
                        <a:t>−0.113</a:t>
                      </a:r>
                    </a:p>
                  </a:txBody>
                  <a:tcPr marL="91440" marR="91440" marT="27432" marB="27432" anchor="ctr">
                    <a:solidFill>
                      <a:srgbClr val="0D0E10"/>
                    </a:solidFill>
                  </a:tcPr>
                </a:tc>
                <a:tc>
                  <a:txBody>
                    <a:bodyPr/>
                    <a:lstStyle/>
                    <a:p>
                      <a:pPr algn="r"/>
                      <a:r>
                        <a:rPr sz="1200" b="0">
                          <a:solidFill>
                            <a:srgbClr val="D9DCE2"/>
                          </a:solidFill>
                          <a:latin typeface="Roboto Mono"/>
                        </a:rPr>
                        <a:t>not distinguishable from noise</a:t>
                      </a:r>
                    </a:p>
                  </a:txBody>
                  <a:tcPr marL="91440" marR="91440" marT="27432" marB="27432" anchor="ctr">
                    <a:solidFill>
                      <a:srgbClr val="0D0E10"/>
                    </a:solidFill>
                  </a:tcPr>
                </a:tc>
              </a:tr>
              <a:tr h="310896">
                <a:tc>
                  <a:txBody>
                    <a:bodyPr/>
                    <a:lstStyle/>
                    <a:p>
                      <a:pPr algn="l"/>
                      <a:r>
                        <a:rPr sz="1200" b="0">
                          <a:solidFill>
                            <a:srgbClr val="D9DCE2"/>
                          </a:solidFill>
                          <a:latin typeface="Roboto"/>
                        </a:rPr>
                        <a:t>reporting (10)</a:t>
                      </a:r>
                    </a:p>
                  </a:txBody>
                  <a:tcPr marL="91440" marR="91440" marT="27432" marB="27432" anchor="ctr">
                    <a:solidFill>
                      <a:srgbClr val="0D0E10"/>
                    </a:solidFill>
                  </a:tcPr>
                </a:tc>
                <a:tc>
                  <a:txBody>
                    <a:bodyPr/>
                    <a:lstStyle/>
                    <a:p>
                      <a:pPr algn="r"/>
                      <a:r>
                        <a:rPr sz="1200" b="0">
                          <a:solidFill>
                            <a:srgbClr val="D9DCE2"/>
                          </a:solidFill>
                          <a:latin typeface="Roboto Mono"/>
                        </a:rPr>
                        <a:t>+0.406</a:t>
                      </a:r>
                    </a:p>
                  </a:txBody>
                  <a:tcPr marL="91440" marR="91440" marT="27432" marB="27432" anchor="ctr">
                    <a:solidFill>
                      <a:srgbClr val="0D0E10"/>
                    </a:solidFill>
                  </a:tcPr>
                </a:tc>
                <a:tc>
                  <a:txBody>
                    <a:bodyPr/>
                    <a:lstStyle/>
                    <a:p>
                      <a:pPr algn="r"/>
                      <a:r>
                        <a:rPr sz="1200" b="0">
                          <a:solidFill>
                            <a:srgbClr val="D9DCE2"/>
                          </a:solidFill>
                          <a:latin typeface="Roboto Mono"/>
                        </a:rPr>
                        <a:t>significant</a:t>
                      </a:r>
                    </a:p>
                  </a:txBody>
                  <a:tcPr marL="91440" marR="91440" marT="27432" marB="27432" anchor="ctr">
                    <a:solidFill>
                      <a:srgbClr val="0D0E10"/>
                    </a:solidFill>
                  </a:tcPr>
                </a:tc>
              </a:tr>
            </a:tbl>
          </a:graphicData>
        </a:graphic>
      </p:graphicFrame>
      <p:sp>
        <p:nvSpPr>
          <p:cNvPr id="6" name="TextBox 5"/>
          <p:cNvSpPr txBox="1"/>
          <p:nvPr/>
        </p:nvSpPr>
        <p:spPr>
          <a:xfrm>
            <a:off x="566928" y="3931920"/>
            <a:ext cx="10607040" cy="914400"/>
          </a:xfrm>
          <a:prstGeom prst="rect">
            <a:avLst/>
          </a:prstGeom>
          <a:noFill/>
        </p:spPr>
        <p:txBody>
          <a:bodyPr wrap="square">
            <a:spAutoFit/>
          </a:bodyPr>
          <a:lstStyle/>
          <a:p>
            <a:pPr algn="l">
              <a:spcAft>
                <a:spcPts val="600"/>
              </a:spcAft>
            </a:pPr>
            <a:r>
              <a:rPr sz="1400" b="0">
                <a:solidFill>
                  <a:srgbClr val="D9DCE2"/>
                </a:solidFill>
                <a:latin typeface="Roboto"/>
              </a:rPr>
              <a:t>Opposite signs. And the reporting folds exist precisely so that no modelling decision is made using them — "keep" costs nothing, but "change" would mean the holdout had influenced the model.</a:t>
            </a:r>
          </a:p>
        </p:txBody>
      </p:sp>
      <p:sp>
        <p:nvSpPr>
          <p:cNvPr id="7" name="TextBox 6"/>
          <p:cNvSpPr txBox="1"/>
          <p:nvPr/>
        </p:nvSpPr>
        <p:spPr>
          <a:xfrm>
            <a:off x="566928" y="4937760"/>
            <a:ext cx="11064240" cy="822960"/>
          </a:xfrm>
          <a:prstGeom prst="rect">
            <a:avLst/>
          </a:prstGeom>
          <a:noFill/>
        </p:spPr>
        <p:txBody>
          <a:bodyPr wrap="square">
            <a:spAutoFit/>
          </a:bodyPr>
          <a:lstStyle/>
          <a:p>
            <a:pPr algn="l"/>
            <a:r>
              <a:rPr sz="2800" b="1">
                <a:solidFill>
                  <a:srgbClr val="E0A33C"/>
                </a:solidFill>
                <a:latin typeface="Roboto Mono"/>
              </a:rPr>
              <a:t>unstable, not an improvement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15     HONESTY</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What this model is, and is not, good for</a:t>
            </a:r>
          </a:p>
        </p:txBody>
      </p:sp>
      <p:graphicFrame>
        <p:nvGraphicFramePr>
          <p:cNvPr id="4" name="Table 3"/>
          <p:cNvGraphicFramePr>
            <a:graphicFrameLocks noGrp="1"/>
          </p:cNvGraphicFramePr>
          <p:nvPr/>
        </p:nvGraphicFramePr>
        <p:xfrm>
          <a:off x="566928" y="1737360"/>
          <a:ext cx="7863840" cy="2176272"/>
        </p:xfrm>
        <a:graphic>
          <a:graphicData uri="http://schemas.openxmlformats.org/drawingml/2006/table">
            <a:tbl>
              <a:tblPr firstRow="1" bandRow="1">
                <a:tableStyleId>{5C22544A-7EE6-4342-B048-85BDC9FD1C3A}</a:tableStyleId>
              </a:tblPr>
              <a:tblGrid>
                <a:gridCol w="3108960"/>
                <a:gridCol w="1554480"/>
                <a:gridCol w="1554480"/>
                <a:gridCol w="1645920"/>
              </a:tblGrid>
              <a:tr h="310896">
                <a:tc>
                  <a:txBody>
                    <a:bodyPr/>
                    <a:lstStyle/>
                    <a:p>
                      <a:pPr algn="l"/>
                      <a:r>
                        <a:rPr sz="900" b="1">
                          <a:solidFill>
                            <a:srgbClr val="767D88"/>
                          </a:solidFill>
                          <a:latin typeface="Roboto Mono"/>
                        </a:rPr>
                        <a:t>True price band</a:t>
                      </a:r>
                    </a:p>
                  </a:txBody>
                  <a:tcPr marL="91440" marR="91440" marT="27432" marB="27432" anchor="ctr">
                    <a:solidFill>
                      <a:srgbClr val="1C1F23"/>
                    </a:solidFill>
                  </a:tcPr>
                </a:tc>
                <a:tc>
                  <a:txBody>
                    <a:bodyPr/>
                    <a:lstStyle/>
                    <a:p>
                      <a:pPr algn="l"/>
                      <a:r>
                        <a:rPr sz="900" b="1">
                          <a:solidFill>
                            <a:srgbClr val="767D88"/>
                          </a:solidFill>
                          <a:latin typeface="Roboto Mono"/>
                        </a:rPr>
                        <a:t>n</a:t>
                      </a:r>
                    </a:p>
                  </a:txBody>
                  <a:tcPr marL="91440" marR="91440" marT="27432" marB="27432" anchor="ctr">
                    <a:solidFill>
                      <a:srgbClr val="1C1F23"/>
                    </a:solidFill>
                  </a:tcPr>
                </a:tc>
                <a:tc>
                  <a:txBody>
                    <a:bodyPr/>
                    <a:lstStyle/>
                    <a:p>
                      <a:pPr algn="l"/>
                      <a:r>
                        <a:rPr sz="900" b="1">
                          <a:solidFill>
                            <a:srgbClr val="767D88"/>
                          </a:solidFill>
                          <a:latin typeface="Roboto Mono"/>
                        </a:rPr>
                        <a:t>model</a:t>
                      </a:r>
                    </a:p>
                  </a:txBody>
                  <a:tcPr marL="91440" marR="91440" marT="27432" marB="27432" anchor="ctr">
                    <a:solidFill>
                      <a:srgbClr val="1C1F23"/>
                    </a:solidFill>
                  </a:tcPr>
                </a:tc>
                <a:tc>
                  <a:txBody>
                    <a:bodyPr/>
                    <a:lstStyle/>
                    <a:p>
                      <a:pPr algn="l"/>
                      <a:r>
                        <a:rPr sz="900" b="1">
                          <a:solidFill>
                            <a:srgbClr val="767D88"/>
                          </a:solidFill>
                          <a:latin typeface="Roboto Mono"/>
                        </a:rPr>
                        <a:t>naive</a:t>
                      </a:r>
                    </a:p>
                  </a:txBody>
                  <a:tcPr marL="91440" marR="91440" marT="27432" marB="27432" anchor="ctr">
                    <a:solidFill>
                      <a:srgbClr val="1C1F23"/>
                    </a:solidFill>
                  </a:tcPr>
                </a:tc>
              </a:tr>
              <a:tr h="310896">
                <a:tc>
                  <a:txBody>
                    <a:bodyPr/>
                    <a:lstStyle/>
                    <a:p>
                      <a:pPr algn="l"/>
                      <a:r>
                        <a:rPr sz="1200" b="0">
                          <a:solidFill>
                            <a:srgbClr val="E0A33C"/>
                          </a:solidFill>
                          <a:latin typeface="Roboto"/>
                        </a:rPr>
                        <a:t>negative</a:t>
                      </a:r>
                    </a:p>
                  </a:txBody>
                  <a:tcPr marL="91440" marR="91440" marT="27432" marB="27432" anchor="ctr">
                    <a:solidFill>
                      <a:srgbClr val="2A2114"/>
                    </a:solidFill>
                  </a:tcPr>
                </a:tc>
                <a:tc>
                  <a:txBody>
                    <a:bodyPr/>
                    <a:lstStyle/>
                    <a:p>
                      <a:pPr algn="r"/>
                      <a:r>
                        <a:rPr sz="1200" b="0">
                          <a:solidFill>
                            <a:srgbClr val="E0A33C"/>
                          </a:solidFill>
                          <a:latin typeface="Roboto Mono"/>
                        </a:rPr>
                        <a:t>110</a:t>
                      </a:r>
                    </a:p>
                  </a:txBody>
                  <a:tcPr marL="91440" marR="91440" marT="27432" marB="27432" anchor="ctr">
                    <a:solidFill>
                      <a:srgbClr val="2A2114"/>
                    </a:solidFill>
                  </a:tcPr>
                </a:tc>
                <a:tc>
                  <a:txBody>
                    <a:bodyPr/>
                    <a:lstStyle/>
                    <a:p>
                      <a:pPr algn="r"/>
                      <a:r>
                        <a:rPr sz="1200" b="0">
                          <a:solidFill>
                            <a:srgbClr val="E0A33C"/>
                          </a:solidFill>
                          <a:latin typeface="Roboto Mono"/>
                        </a:rPr>
                        <a:t>8.94</a:t>
                      </a:r>
                    </a:p>
                  </a:txBody>
                  <a:tcPr marL="91440" marR="91440" marT="27432" marB="27432" anchor="ctr">
                    <a:solidFill>
                      <a:srgbClr val="2A2114"/>
                    </a:solidFill>
                  </a:tcPr>
                </a:tc>
                <a:tc>
                  <a:txBody>
                    <a:bodyPr/>
                    <a:lstStyle/>
                    <a:p>
                      <a:pPr algn="r"/>
                      <a:r>
                        <a:rPr sz="1200" b="0">
                          <a:solidFill>
                            <a:srgbClr val="E0A33C"/>
                          </a:solidFill>
                          <a:latin typeface="Roboto Mono"/>
                        </a:rPr>
                        <a:t>8.96</a:t>
                      </a:r>
                    </a:p>
                  </a:txBody>
                  <a:tcPr marL="91440" marR="91440" marT="27432" marB="27432" anchor="ctr">
                    <a:solidFill>
                      <a:srgbClr val="2A2114"/>
                    </a:solidFill>
                  </a:tcPr>
                </a:tc>
              </a:tr>
              <a:tr h="310896">
                <a:tc>
                  <a:txBody>
                    <a:bodyPr/>
                    <a:lstStyle/>
                    <a:p>
                      <a:pPr algn="l"/>
                      <a:r>
                        <a:rPr sz="1200" b="0">
                          <a:solidFill>
                            <a:srgbClr val="3ECF8E"/>
                          </a:solidFill>
                          <a:latin typeface="Roboto"/>
                        </a:rPr>
                        <a:t>0–20</a:t>
                      </a:r>
                    </a:p>
                  </a:txBody>
                  <a:tcPr marL="91440" marR="91440" marT="27432" marB="27432" anchor="ctr">
                    <a:solidFill>
                      <a:srgbClr val="142A22"/>
                    </a:solidFill>
                  </a:tcPr>
                </a:tc>
                <a:tc>
                  <a:txBody>
                    <a:bodyPr/>
                    <a:lstStyle/>
                    <a:p>
                      <a:pPr algn="r"/>
                      <a:r>
                        <a:rPr sz="1200" b="0">
                          <a:solidFill>
                            <a:srgbClr val="3ECF8E"/>
                          </a:solidFill>
                          <a:latin typeface="Roboto Mono"/>
                        </a:rPr>
                        <a:t>1,130</a:t>
                      </a:r>
                    </a:p>
                  </a:txBody>
                  <a:tcPr marL="91440" marR="91440" marT="27432" marB="27432" anchor="ctr">
                    <a:solidFill>
                      <a:srgbClr val="142A22"/>
                    </a:solidFill>
                  </a:tcPr>
                </a:tc>
                <a:tc>
                  <a:txBody>
                    <a:bodyPr/>
                    <a:lstStyle/>
                    <a:p>
                      <a:pPr algn="r"/>
                      <a:r>
                        <a:rPr sz="1200" b="0">
                          <a:solidFill>
                            <a:srgbClr val="3ECF8E"/>
                          </a:solidFill>
                          <a:latin typeface="Roboto Mono"/>
                        </a:rPr>
                        <a:t>15.11</a:t>
                      </a:r>
                    </a:p>
                  </a:txBody>
                  <a:tcPr marL="91440" marR="91440" marT="27432" marB="27432" anchor="ctr">
                    <a:solidFill>
                      <a:srgbClr val="142A22"/>
                    </a:solidFill>
                  </a:tcPr>
                </a:tc>
                <a:tc>
                  <a:txBody>
                    <a:bodyPr/>
                    <a:lstStyle/>
                    <a:p>
                      <a:pPr algn="r"/>
                      <a:r>
                        <a:rPr sz="1200" b="0">
                          <a:solidFill>
                            <a:srgbClr val="3ECF8E"/>
                          </a:solidFill>
                          <a:latin typeface="Roboto Mono"/>
                        </a:rPr>
                        <a:t>23.11</a:t>
                      </a:r>
                    </a:p>
                  </a:txBody>
                  <a:tcPr marL="91440" marR="91440" marT="27432" marB="27432" anchor="ctr">
                    <a:solidFill>
                      <a:srgbClr val="142A22"/>
                    </a:solidFill>
                  </a:tcPr>
                </a:tc>
              </a:tr>
              <a:tr h="310896">
                <a:tc>
                  <a:txBody>
                    <a:bodyPr/>
                    <a:lstStyle/>
                    <a:p>
                      <a:pPr algn="l"/>
                      <a:r>
                        <a:rPr sz="1200" b="0">
                          <a:solidFill>
                            <a:srgbClr val="3ECF8E"/>
                          </a:solidFill>
                          <a:latin typeface="Roboto"/>
                        </a:rPr>
                        <a:t>20–50</a:t>
                      </a:r>
                    </a:p>
                  </a:txBody>
                  <a:tcPr marL="91440" marR="91440" marT="27432" marB="27432" anchor="ctr">
                    <a:solidFill>
                      <a:srgbClr val="142A22"/>
                    </a:solidFill>
                  </a:tcPr>
                </a:tc>
                <a:tc>
                  <a:txBody>
                    <a:bodyPr/>
                    <a:lstStyle/>
                    <a:p>
                      <a:pPr algn="r"/>
                      <a:r>
                        <a:rPr sz="1200" b="0">
                          <a:solidFill>
                            <a:srgbClr val="3ECF8E"/>
                          </a:solidFill>
                          <a:latin typeface="Roboto Mono"/>
                        </a:rPr>
                        <a:t>1,480</a:t>
                      </a:r>
                    </a:p>
                  </a:txBody>
                  <a:tcPr marL="91440" marR="91440" marT="27432" marB="27432" anchor="ctr">
                    <a:solidFill>
                      <a:srgbClr val="142A22"/>
                    </a:solidFill>
                  </a:tcPr>
                </a:tc>
                <a:tc>
                  <a:txBody>
                    <a:bodyPr/>
                    <a:lstStyle/>
                    <a:p>
                      <a:pPr algn="r"/>
                      <a:r>
                        <a:rPr sz="1200" b="0">
                          <a:solidFill>
                            <a:srgbClr val="3ECF8E"/>
                          </a:solidFill>
                          <a:latin typeface="Roboto Mono"/>
                        </a:rPr>
                        <a:t>14.64</a:t>
                      </a:r>
                    </a:p>
                  </a:txBody>
                  <a:tcPr marL="91440" marR="91440" marT="27432" marB="27432" anchor="ctr">
                    <a:solidFill>
                      <a:srgbClr val="142A22"/>
                    </a:solidFill>
                  </a:tcPr>
                </a:tc>
                <a:tc>
                  <a:txBody>
                    <a:bodyPr/>
                    <a:lstStyle/>
                    <a:p>
                      <a:pPr algn="r"/>
                      <a:r>
                        <a:rPr sz="1200" b="0">
                          <a:solidFill>
                            <a:srgbClr val="3ECF8E"/>
                          </a:solidFill>
                          <a:latin typeface="Roboto Mono"/>
                        </a:rPr>
                        <a:t>27.13</a:t>
                      </a:r>
                    </a:p>
                  </a:txBody>
                  <a:tcPr marL="91440" marR="91440" marT="27432" marB="27432" anchor="ctr">
                    <a:solidFill>
                      <a:srgbClr val="142A22"/>
                    </a:solidFill>
                  </a:tcPr>
                </a:tc>
              </a:tr>
              <a:tr h="310896">
                <a:tc>
                  <a:txBody>
                    <a:bodyPr/>
                    <a:lstStyle/>
                    <a:p>
                      <a:pPr algn="l"/>
                      <a:r>
                        <a:rPr sz="1200" b="0">
                          <a:solidFill>
                            <a:srgbClr val="3ECF8E"/>
                          </a:solidFill>
                          <a:latin typeface="Roboto"/>
                        </a:rPr>
                        <a:t>50–100</a:t>
                      </a:r>
                    </a:p>
                  </a:txBody>
                  <a:tcPr marL="91440" marR="91440" marT="27432" marB="27432" anchor="ctr">
                    <a:solidFill>
                      <a:srgbClr val="142A22"/>
                    </a:solidFill>
                  </a:tcPr>
                </a:tc>
                <a:tc>
                  <a:txBody>
                    <a:bodyPr/>
                    <a:lstStyle/>
                    <a:p>
                      <a:pPr algn="r"/>
                      <a:r>
                        <a:rPr sz="1200" b="0">
                          <a:solidFill>
                            <a:srgbClr val="3ECF8E"/>
                          </a:solidFill>
                          <a:latin typeface="Roboto Mono"/>
                        </a:rPr>
                        <a:t>2,796</a:t>
                      </a:r>
                    </a:p>
                  </a:txBody>
                  <a:tcPr marL="91440" marR="91440" marT="27432" marB="27432" anchor="ctr">
                    <a:solidFill>
                      <a:srgbClr val="142A22"/>
                    </a:solidFill>
                  </a:tcPr>
                </a:tc>
                <a:tc>
                  <a:txBody>
                    <a:bodyPr/>
                    <a:lstStyle/>
                    <a:p>
                      <a:pPr algn="r"/>
                      <a:r>
                        <a:rPr sz="1200" b="0">
                          <a:solidFill>
                            <a:srgbClr val="3ECF8E"/>
                          </a:solidFill>
                          <a:latin typeface="Roboto Mono"/>
                        </a:rPr>
                        <a:t>18.76</a:t>
                      </a:r>
                    </a:p>
                  </a:txBody>
                  <a:tcPr marL="91440" marR="91440" marT="27432" marB="27432" anchor="ctr">
                    <a:solidFill>
                      <a:srgbClr val="142A22"/>
                    </a:solidFill>
                  </a:tcPr>
                </a:tc>
                <a:tc>
                  <a:txBody>
                    <a:bodyPr/>
                    <a:lstStyle/>
                    <a:p>
                      <a:pPr algn="r"/>
                      <a:r>
                        <a:rPr sz="1200" b="0">
                          <a:solidFill>
                            <a:srgbClr val="3ECF8E"/>
                          </a:solidFill>
                          <a:latin typeface="Roboto Mono"/>
                        </a:rPr>
                        <a:t>23.07</a:t>
                      </a:r>
                    </a:p>
                  </a:txBody>
                  <a:tcPr marL="91440" marR="91440" marT="27432" marB="27432" anchor="ctr">
                    <a:solidFill>
                      <a:srgbClr val="142A22"/>
                    </a:solidFill>
                  </a:tcPr>
                </a:tc>
              </a:tr>
              <a:tr h="310896">
                <a:tc>
                  <a:txBody>
                    <a:bodyPr/>
                    <a:lstStyle/>
                    <a:p>
                      <a:pPr algn="l"/>
                      <a:r>
                        <a:rPr sz="1200" b="0">
                          <a:solidFill>
                            <a:srgbClr val="D9DCE2"/>
                          </a:solidFill>
                          <a:latin typeface="Roboto"/>
                        </a:rPr>
                        <a:t>100–200</a:t>
                      </a:r>
                    </a:p>
                  </a:txBody>
                  <a:tcPr marL="91440" marR="91440" marT="27432" marB="27432" anchor="ctr">
                    <a:solidFill>
                      <a:srgbClr val="0D0E10"/>
                    </a:solidFill>
                  </a:tcPr>
                </a:tc>
                <a:tc>
                  <a:txBody>
                    <a:bodyPr/>
                    <a:lstStyle/>
                    <a:p>
                      <a:pPr algn="r"/>
                      <a:r>
                        <a:rPr sz="1200" b="0">
                          <a:solidFill>
                            <a:srgbClr val="D9DCE2"/>
                          </a:solidFill>
                          <a:latin typeface="Roboto Mono"/>
                        </a:rPr>
                        <a:t>1,433</a:t>
                      </a:r>
                    </a:p>
                  </a:txBody>
                  <a:tcPr marL="91440" marR="91440" marT="27432" marB="27432" anchor="ctr">
                    <a:solidFill>
                      <a:srgbClr val="0D0E10"/>
                    </a:solidFill>
                  </a:tcPr>
                </a:tc>
                <a:tc>
                  <a:txBody>
                    <a:bodyPr/>
                    <a:lstStyle/>
                    <a:p>
                      <a:pPr algn="r"/>
                      <a:r>
                        <a:rPr sz="1200" b="0">
                          <a:solidFill>
                            <a:srgbClr val="D9DCE2"/>
                          </a:solidFill>
                          <a:latin typeface="Roboto Mono"/>
                        </a:rPr>
                        <a:t>27.35</a:t>
                      </a:r>
                    </a:p>
                  </a:txBody>
                  <a:tcPr marL="91440" marR="91440" marT="27432" marB="27432" anchor="ctr">
                    <a:solidFill>
                      <a:srgbClr val="0D0E10"/>
                    </a:solidFill>
                  </a:tcPr>
                </a:tc>
                <a:tc>
                  <a:txBody>
                    <a:bodyPr/>
                    <a:lstStyle/>
                    <a:p>
                      <a:pPr algn="r"/>
                      <a:r>
                        <a:rPr sz="1200" b="0">
                          <a:solidFill>
                            <a:srgbClr val="D9DCE2"/>
                          </a:solidFill>
                          <a:latin typeface="Roboto Mono"/>
                        </a:rPr>
                        <a:t>32.59</a:t>
                      </a:r>
                    </a:p>
                  </a:txBody>
                  <a:tcPr marL="91440" marR="91440" marT="27432" marB="27432" anchor="ctr">
                    <a:solidFill>
                      <a:srgbClr val="0D0E10"/>
                    </a:solidFill>
                  </a:tcPr>
                </a:tc>
              </a:tr>
              <a:tr h="310896">
                <a:tc>
                  <a:txBody>
                    <a:bodyPr/>
                    <a:lstStyle/>
                    <a:p>
                      <a:pPr algn="l"/>
                      <a:r>
                        <a:rPr sz="1200" b="0">
                          <a:solidFill>
                            <a:srgbClr val="E0A33C"/>
                          </a:solidFill>
                          <a:latin typeface="Roboto"/>
                        </a:rPr>
                        <a:t>200+</a:t>
                      </a:r>
                    </a:p>
                  </a:txBody>
                  <a:tcPr marL="91440" marR="91440" marT="27432" marB="27432" anchor="ctr">
                    <a:solidFill>
                      <a:srgbClr val="2A2114"/>
                    </a:solidFill>
                  </a:tcPr>
                </a:tc>
                <a:tc>
                  <a:txBody>
                    <a:bodyPr/>
                    <a:lstStyle/>
                    <a:p>
                      <a:pPr algn="r"/>
                      <a:r>
                        <a:rPr sz="1200" b="0">
                          <a:solidFill>
                            <a:srgbClr val="E0A33C"/>
                          </a:solidFill>
                          <a:latin typeface="Roboto Mono"/>
                        </a:rPr>
                        <a:t>58</a:t>
                      </a:r>
                    </a:p>
                  </a:txBody>
                  <a:tcPr marL="91440" marR="91440" marT="27432" marB="27432" anchor="ctr">
                    <a:solidFill>
                      <a:srgbClr val="2A2114"/>
                    </a:solidFill>
                  </a:tcPr>
                </a:tc>
                <a:tc>
                  <a:txBody>
                    <a:bodyPr/>
                    <a:lstStyle/>
                    <a:p>
                      <a:pPr algn="r"/>
                      <a:r>
                        <a:rPr sz="1200" b="0">
                          <a:solidFill>
                            <a:srgbClr val="E0A33C"/>
                          </a:solidFill>
                          <a:latin typeface="Roboto Mono"/>
                        </a:rPr>
                        <a:t>97.74</a:t>
                      </a:r>
                    </a:p>
                  </a:txBody>
                  <a:tcPr marL="91440" marR="91440" marT="27432" marB="27432" anchor="ctr">
                    <a:solidFill>
                      <a:srgbClr val="2A2114"/>
                    </a:solidFill>
                  </a:tcPr>
                </a:tc>
                <a:tc>
                  <a:txBody>
                    <a:bodyPr/>
                    <a:lstStyle/>
                    <a:p>
                      <a:pPr algn="r"/>
                      <a:r>
                        <a:rPr sz="1200" b="0">
                          <a:solidFill>
                            <a:srgbClr val="E0A33C"/>
                          </a:solidFill>
                          <a:latin typeface="Roboto Mono"/>
                        </a:rPr>
                        <a:t>97.43</a:t>
                      </a:r>
                    </a:p>
                  </a:txBody>
                  <a:tcPr marL="91440" marR="91440" marT="27432" marB="27432" anchor="ctr">
                    <a:solidFill>
                      <a:srgbClr val="2A2114"/>
                    </a:solidFill>
                  </a:tcPr>
                </a:tc>
              </a:tr>
            </a:tbl>
          </a:graphicData>
        </a:graphic>
      </p:graphicFrame>
      <p:sp>
        <p:nvSpPr>
          <p:cNvPr id="5" name="TextBox 4"/>
          <p:cNvSpPr txBox="1"/>
          <p:nvPr/>
        </p:nvSpPr>
        <p:spPr>
          <a:xfrm>
            <a:off x="8778240" y="1920240"/>
            <a:ext cx="3017520" cy="3291840"/>
          </a:xfrm>
          <a:prstGeom prst="rect">
            <a:avLst/>
          </a:prstGeom>
          <a:noFill/>
        </p:spPr>
        <p:txBody>
          <a:bodyPr wrap="square">
            <a:spAutoFit/>
          </a:bodyPr>
          <a:lstStyle/>
          <a:p>
            <a:pPr algn="l">
              <a:spcAft>
                <a:spcPts val="600"/>
              </a:spcAft>
            </a:pPr>
            <a:r>
              <a:rPr sz="1500" b="1">
                <a:solidFill>
                  <a:srgbClr val="E0A33C"/>
                </a:solidFill>
                <a:latin typeface="Roboto"/>
              </a:rPr>
              <a:t>At both extremes the model is no better than "yesterday's price."</a:t>
            </a:r>
          </a:p>
          <a:p>
            <a:pPr>
              <a:spcAft>
                <a:spcPts val="1000"/>
              </a:spcAft>
            </a:pPr>
            <a:r>
              <a:rPr sz="1350" b="0">
                <a:solidFill>
                  <a:srgbClr val="D9DCE2"/>
                </a:solidFill>
                <a:latin typeface="Roboto"/>
              </a:rPr>
              <a:t>All of its value sits in the ordinary middle of the distribution.</a:t>
            </a:r>
          </a:p>
          <a:p>
            <a:pPr>
              <a:spcAft>
                <a:spcPts val="600"/>
              </a:spcAft>
            </a:pPr>
            <a:r>
              <a:rPr sz="1350" b="0">
                <a:solidFill>
                  <a:srgbClr val="99A0AB"/>
                </a:solidFill>
                <a:latin typeface="Roboto"/>
              </a:rPr>
              <a:t>If the bidding process cares mainly about spike hours, this is a design problem, not a tuning problem.</a:t>
            </a:r>
          </a:p>
        </p:txBody>
      </p:sp>
      <p:sp>
        <p:nvSpPr>
          <p:cNvPr id="6" name="TextBox 5"/>
          <p:cNvSpPr txBox="1"/>
          <p:nvPr/>
        </p:nvSpPr>
        <p:spPr>
          <a:xfrm>
            <a:off x="566928" y="5760720"/>
            <a:ext cx="10607040" cy="914400"/>
          </a:xfrm>
          <a:prstGeom prst="rect">
            <a:avLst/>
          </a:prstGeom>
          <a:noFill/>
        </p:spPr>
        <p:txBody>
          <a:bodyPr wrap="square">
            <a:spAutoFit/>
          </a:bodyPr>
          <a:lstStyle/>
          <a:p>
            <a:pPr algn="l">
              <a:spcAft>
                <a:spcPts val="600"/>
              </a:spcAft>
            </a:pPr>
            <a:r>
              <a:rPr sz="1500" b="0">
                <a:solidFill>
                  <a:srgbClr val="99A0AB"/>
                </a:solidFill>
                <a:latin typeface="Roboto"/>
              </a:rPr>
              <a:t>MAE 19.56 against a mean price near 59 is still 33% of the price level. A real improvement on a problem that remains hard.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16     NEXT</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Where I would go next</a:t>
            </a:r>
          </a:p>
        </p:txBody>
      </p:sp>
      <p:sp>
        <p:nvSpPr>
          <p:cNvPr id="4" name="Rounded Rectangle 3"/>
          <p:cNvSpPr/>
          <p:nvPr/>
        </p:nvSpPr>
        <p:spPr>
          <a:xfrm>
            <a:off x="566928" y="1828800"/>
            <a:ext cx="5349240" cy="1874519"/>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4846320" cy="274320"/>
          </a:xfrm>
          <a:prstGeom prst="rect">
            <a:avLst/>
          </a:prstGeom>
          <a:noFill/>
        </p:spPr>
        <p:txBody>
          <a:bodyPr wrap="square">
            <a:spAutoFit/>
          </a:bodyPr>
          <a:lstStyle/>
          <a:p>
            <a:pPr algn="l">
              <a:spcAft>
                <a:spcPts val="600"/>
              </a:spcAft>
            </a:pPr>
            <a:r>
              <a:rPr sz="950" b="1">
                <a:solidFill>
                  <a:srgbClr val="3ECF8E"/>
                </a:solidFill>
                <a:latin typeface="Roboto Mono"/>
              </a:rPr>
              <a:t>1 · BIGGEST TECHNICAL LEAD</a:t>
            </a:r>
          </a:p>
        </p:txBody>
      </p:sp>
      <p:sp>
        <p:nvSpPr>
          <p:cNvPr id="6" name="TextBox 5"/>
          <p:cNvSpPr txBox="1"/>
          <p:nvPr/>
        </p:nvSpPr>
        <p:spPr>
          <a:xfrm>
            <a:off x="822960" y="2359152"/>
            <a:ext cx="4846320" cy="1188720"/>
          </a:xfrm>
          <a:prstGeom prst="rect">
            <a:avLst/>
          </a:prstGeom>
          <a:noFill/>
        </p:spPr>
        <p:txBody>
          <a:bodyPr wrap="square">
            <a:spAutoFit/>
          </a:bodyPr>
          <a:lstStyle/>
          <a:p>
            <a:pPr algn="l">
              <a:spcAft>
                <a:spcPts val="600"/>
              </a:spcAft>
            </a:pPr>
            <a:r>
              <a:rPr sz="1300" b="0">
                <a:solidFill>
                  <a:srgbClr val="D9DCE2"/>
                </a:solidFill>
                <a:latin typeface="Roboto"/>
              </a:rPr>
              <a:t>Attack the shrinkage, not the features. A two-stage model, or using the q90 model when q50 predicts high. This is where the remaining accuracy is.</a:t>
            </a:r>
          </a:p>
        </p:txBody>
      </p:sp>
      <p:sp>
        <p:nvSpPr>
          <p:cNvPr id="7" name="Rounded Rectangle 6"/>
          <p:cNvSpPr/>
          <p:nvPr/>
        </p:nvSpPr>
        <p:spPr>
          <a:xfrm>
            <a:off x="6190488" y="1828800"/>
            <a:ext cx="5349240" cy="1874519"/>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011680"/>
            <a:ext cx="4846320" cy="274320"/>
          </a:xfrm>
          <a:prstGeom prst="rect">
            <a:avLst/>
          </a:prstGeom>
          <a:noFill/>
        </p:spPr>
        <p:txBody>
          <a:bodyPr wrap="square">
            <a:spAutoFit/>
          </a:bodyPr>
          <a:lstStyle/>
          <a:p>
            <a:pPr algn="l">
              <a:spcAft>
                <a:spcPts val="600"/>
              </a:spcAft>
            </a:pPr>
            <a:r>
              <a:rPr sz="950" b="1">
                <a:solidFill>
                  <a:srgbClr val="3ECF8E"/>
                </a:solidFill>
                <a:latin typeface="Roboto Mono"/>
              </a:rPr>
              <a:t>2 · BIGGEST DATA GAP</a:t>
            </a:r>
          </a:p>
        </p:txBody>
      </p:sp>
      <p:sp>
        <p:nvSpPr>
          <p:cNvPr id="9" name="TextBox 8"/>
          <p:cNvSpPr txBox="1"/>
          <p:nvPr/>
        </p:nvSpPr>
        <p:spPr>
          <a:xfrm>
            <a:off x="6446520" y="2359152"/>
            <a:ext cx="4846320" cy="1188720"/>
          </a:xfrm>
          <a:prstGeom prst="rect">
            <a:avLst/>
          </a:prstGeom>
          <a:noFill/>
        </p:spPr>
        <p:txBody>
          <a:bodyPr wrap="square">
            <a:spAutoFit/>
          </a:bodyPr>
          <a:lstStyle/>
          <a:p>
            <a:pPr algn="l">
              <a:spcAft>
                <a:spcPts val="600"/>
              </a:spcAft>
            </a:pPr>
            <a:r>
              <a:rPr sz="1300" b="0">
                <a:solidFill>
                  <a:srgbClr val="D9DCE2"/>
                </a:solidFill>
                <a:latin typeface="Roboto"/>
              </a:rPr>
              <a:t>ENTSO-E load and generation. There is currently no demand-side signal at all — and one feature, yesterday's price, carries the model.</a:t>
            </a:r>
          </a:p>
        </p:txBody>
      </p:sp>
      <p:sp>
        <p:nvSpPr>
          <p:cNvPr id="10" name="Rounded Rectangle 9"/>
          <p:cNvSpPr/>
          <p:nvPr/>
        </p:nvSpPr>
        <p:spPr>
          <a:xfrm>
            <a:off x="566928" y="3977639"/>
            <a:ext cx="5349240" cy="1874519"/>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60520"/>
            <a:ext cx="4846320" cy="274320"/>
          </a:xfrm>
          <a:prstGeom prst="rect">
            <a:avLst/>
          </a:prstGeom>
          <a:noFill/>
        </p:spPr>
        <p:txBody>
          <a:bodyPr wrap="square">
            <a:spAutoFit/>
          </a:bodyPr>
          <a:lstStyle/>
          <a:p>
            <a:pPr algn="l">
              <a:spcAft>
                <a:spcPts val="600"/>
              </a:spcAft>
            </a:pPr>
            <a:r>
              <a:rPr sz="950" b="1">
                <a:solidFill>
                  <a:srgbClr val="3ECF8E"/>
                </a:solidFill>
                <a:latin typeface="Roboto Mono"/>
              </a:rPr>
              <a:t>3 · OPEN QUESTION</a:t>
            </a:r>
          </a:p>
        </p:txBody>
      </p:sp>
      <p:sp>
        <p:nvSpPr>
          <p:cNvPr id="12" name="TextBox 11"/>
          <p:cNvSpPr txBox="1"/>
          <p:nvPr/>
        </p:nvSpPr>
        <p:spPr>
          <a:xfrm>
            <a:off x="822960" y="4507992"/>
            <a:ext cx="4846320" cy="1188720"/>
          </a:xfrm>
          <a:prstGeom prst="rect">
            <a:avLst/>
          </a:prstGeom>
          <a:noFill/>
        </p:spPr>
        <p:txBody>
          <a:bodyPr wrap="square">
            <a:spAutoFit/>
          </a:bodyPr>
          <a:lstStyle/>
          <a:p>
            <a:pPr algn="l">
              <a:spcAft>
                <a:spcPts val="600"/>
              </a:spcAft>
            </a:pPr>
            <a:r>
              <a:rPr sz="1300" b="0">
                <a:solidFill>
                  <a:srgbClr val="D9DCE2"/>
                </a:solidFill>
                <a:latin typeface="Roboto"/>
              </a:rPr>
              <a:t>The rolling features. Resolve on data neither fold set has seen.</a:t>
            </a:r>
          </a:p>
        </p:txBody>
      </p:sp>
      <p:sp>
        <p:nvSpPr>
          <p:cNvPr id="13" name="Rounded Rectangle 12"/>
          <p:cNvSpPr/>
          <p:nvPr/>
        </p:nvSpPr>
        <p:spPr>
          <a:xfrm>
            <a:off x="6190488" y="3977639"/>
            <a:ext cx="5349240" cy="1874519"/>
          </a:xfrm>
          <a:prstGeom prst="roundRect">
            <a:avLst>
              <a:gd name="adj" fmla="val 6000"/>
            </a:avLst>
          </a:prstGeom>
          <a:solidFill>
            <a:srgbClr val="16181B"/>
          </a:solidFill>
          <a:ln w="9525">
            <a:solidFill>
              <a:srgbClr val="2A2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160520"/>
            <a:ext cx="4846320" cy="274320"/>
          </a:xfrm>
          <a:prstGeom prst="rect">
            <a:avLst/>
          </a:prstGeom>
          <a:noFill/>
        </p:spPr>
        <p:txBody>
          <a:bodyPr wrap="square">
            <a:spAutoFit/>
          </a:bodyPr>
          <a:lstStyle/>
          <a:p>
            <a:pPr algn="l">
              <a:spcAft>
                <a:spcPts val="600"/>
              </a:spcAft>
            </a:pPr>
            <a:r>
              <a:rPr sz="950" b="1">
                <a:solidFill>
                  <a:srgbClr val="3ECF8E"/>
                </a:solidFill>
                <a:latin typeface="Roboto Mono"/>
              </a:rPr>
              <a:t>4 · FOR THE SUPERVISOR</a:t>
            </a:r>
          </a:p>
        </p:txBody>
      </p:sp>
      <p:sp>
        <p:nvSpPr>
          <p:cNvPr id="15" name="TextBox 14"/>
          <p:cNvSpPr txBox="1"/>
          <p:nvPr/>
        </p:nvSpPr>
        <p:spPr>
          <a:xfrm>
            <a:off x="6446520" y="4507992"/>
            <a:ext cx="4846320" cy="1188720"/>
          </a:xfrm>
          <a:prstGeom prst="rect">
            <a:avLst/>
          </a:prstGeom>
          <a:noFill/>
        </p:spPr>
        <p:txBody>
          <a:bodyPr wrap="square">
            <a:spAutoFit/>
          </a:bodyPr>
          <a:lstStyle/>
          <a:p>
            <a:pPr algn="l">
              <a:spcAft>
                <a:spcPts val="600"/>
              </a:spcAft>
            </a:pPr>
            <a:r>
              <a:rPr sz="1300" b="0">
                <a:solidFill>
                  <a:srgbClr val="D9DCE2"/>
                </a:solidFill>
                <a:latin typeface="Roboto"/>
              </a:rPr>
              <a:t>Is a community price source acceptable? Is a public forecast archive an acceptable stand-in for the in-house MET pipeline? Is SE3 alone the right target?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17     CLOSE</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400" b="1">
                <a:solidFill>
                  <a:srgbClr val="FFFFFF"/>
                </a:solidFill>
                <a:latin typeface="Roboto"/>
              </a:rPr>
              <a:t>What I would want you to take away</a:t>
            </a:r>
          </a:p>
        </p:txBody>
      </p:sp>
      <p:sp>
        <p:nvSpPr>
          <p:cNvPr id="4" name="TextBox 3"/>
          <p:cNvSpPr txBox="1"/>
          <p:nvPr/>
        </p:nvSpPr>
        <p:spPr>
          <a:xfrm>
            <a:off x="566928" y="1691640"/>
            <a:ext cx="11064240" cy="3657600"/>
          </a:xfrm>
          <a:prstGeom prst="rect">
            <a:avLst/>
          </a:prstGeom>
          <a:noFill/>
        </p:spPr>
        <p:txBody>
          <a:bodyPr wrap="square">
            <a:spAutoFit/>
          </a:bodyPr>
          <a:lstStyle/>
          <a:p>
            <a:pPr algn="l">
              <a:spcAft>
                <a:spcPts val="1400"/>
              </a:spcAft>
            </a:pPr>
            <a:r>
              <a:rPr sz="1600" b="1">
                <a:solidFill>
                  <a:srgbClr val="FFFFFF"/>
                </a:solidFill>
                <a:latin typeface="Roboto"/>
              </a:rPr>
              <a:t>The deadline is the problem.  </a:t>
            </a:r>
            <a:r>
              <a:rPr sz="1500">
                <a:solidFill>
                  <a:srgbClr val="99A0AB"/>
                </a:solidFill>
                <a:latin typeface="Roboto"/>
              </a:rPr>
              <a:t>Every design decision follows from what existed at 11:00.</a:t>
            </a:r>
          </a:p>
          <a:p>
            <a:pPr>
              <a:spcAft>
                <a:spcPts val="1400"/>
              </a:spcAft>
            </a:pPr>
            <a:r>
              <a:rPr sz="1600" b="1">
                <a:solidFill>
                  <a:srgbClr val="FFFFFF"/>
                </a:solidFill>
                <a:latin typeface="Roboto"/>
              </a:rPr>
              <a:t>A forecast published before the cutoff is not leakage.  </a:t>
            </a:r>
            <a:r>
              <a:rPr sz="1500">
                <a:solidFill>
                  <a:srgbClr val="99A0AB"/>
                </a:solidFill>
                <a:latin typeface="Roboto"/>
              </a:rPr>
              <a:t>Worth more than every modelling choice combined.</a:t>
            </a:r>
          </a:p>
          <a:p>
            <a:pPr>
              <a:spcAft>
                <a:spcPts val="1400"/>
              </a:spcAft>
            </a:pPr>
            <a:r>
              <a:rPr sz="1600" b="1">
                <a:solidFill>
                  <a:srgbClr val="FFFFFF"/>
                </a:solidFill>
                <a:latin typeface="Roboto"/>
              </a:rPr>
              <a:t>The feature engineering did the work, not the algorithm.  </a:t>
            </a:r>
            <a:r>
              <a:rPr sz="1500">
                <a:solidFill>
                  <a:srgbClr val="99A0AB"/>
                </a:solidFill>
                <a:latin typeface="Roboto"/>
              </a:rPr>
              <a:t>Ridge ties boosting on the same inputs.</a:t>
            </a:r>
          </a:p>
          <a:p>
            <a:pPr>
              <a:spcAft>
                <a:spcPts val="1400"/>
              </a:spcAft>
            </a:pPr>
            <a:r>
              <a:rPr sz="1600" b="1">
                <a:solidFill>
                  <a:srgbClr val="FFFFFF"/>
                </a:solidFill>
                <a:latin typeface="Roboto"/>
              </a:rPr>
              <a:t>Every silent failure was caught by a plausibility check.  </a:t>
            </a:r>
            <a:r>
              <a:rPr sz="1500">
                <a:solidFill>
                  <a:srgbClr val="99A0AB"/>
                </a:solidFill>
                <a:latin typeface="Roboto"/>
              </a:rPr>
              <a:t>Never by an exception. Nothing in this project crashed.</a:t>
            </a:r>
          </a:p>
          <a:p>
            <a:pPr>
              <a:spcAft>
                <a:spcPts val="1400"/>
              </a:spcAft>
            </a:pPr>
            <a:r>
              <a:rPr sz="1600" b="1">
                <a:solidFill>
                  <a:srgbClr val="FFFFFF"/>
                </a:solidFill>
                <a:latin typeface="Roboto"/>
              </a:rPr>
              <a:t>The measurement apparatus was built before the models.  </a:t>
            </a:r>
            <a:r>
              <a:rPr sz="1500">
                <a:solidFill>
                  <a:srgbClr val="99A0AB"/>
                </a:solidFill>
                <a:latin typeface="Roboto"/>
              </a:rPr>
              <a:t>So it could not be bent to flatter them afterwards.</a:t>
            </a:r>
          </a:p>
        </p:txBody>
      </p:sp>
      <p:sp>
        <p:nvSpPr>
          <p:cNvPr id="5" name="TextBox 4"/>
          <p:cNvSpPr txBox="1"/>
          <p:nvPr/>
        </p:nvSpPr>
        <p:spPr>
          <a:xfrm>
            <a:off x="566928" y="5623560"/>
            <a:ext cx="11064240" cy="822960"/>
          </a:xfrm>
          <a:prstGeom prst="rect">
            <a:avLst/>
          </a:prstGeom>
          <a:noFill/>
        </p:spPr>
        <p:txBody>
          <a:bodyPr wrap="square">
            <a:spAutoFit/>
          </a:bodyPr>
          <a:lstStyle/>
          <a:p>
            <a:pPr algn="l"/>
            <a:r>
              <a:rPr sz="2600" b="1">
                <a:solidFill>
                  <a:srgbClr val="3ECF8E"/>
                </a:solidFill>
                <a:latin typeface="Roboto Mono"/>
              </a:rPr>
              <a:t>19.56</a:t>
            </a:r>
            <a:r>
              <a:rPr sz="2600" b="0">
                <a:solidFill>
                  <a:srgbClr val="99A0AB"/>
                </a:solidFill>
                <a:latin typeface="Roboto Mono"/>
              </a:rPr>
              <a:t>  vs  </a:t>
            </a:r>
            <a:r>
              <a:rPr sz="2600" b="1">
                <a:solidFill>
                  <a:srgbClr val="FFFFFF"/>
                </a:solidFill>
                <a:latin typeface="Roboto Mono"/>
              </a:rPr>
              <a:t>26.28</a:t>
            </a:r>
            <a:r>
              <a:rPr sz="2600" b="0">
                <a:solidFill>
                  <a:srgbClr val="99A0AB"/>
                </a:solidFill>
                <a:latin typeface="Roboto Mono"/>
              </a:rPr>
              <a:t>   ·   10/10 folds   ·   80.4% coverage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E10"/>
        </a:solidFill>
        <a:effectLst/>
      </p:bgPr>
    </p:bg>
    <p:spTree>
      <p:nvGrpSpPr>
        <p:cNvPr id="1" name=""/>
        <p:cNvGrpSpPr/>
        <p:nvPr/>
      </p:nvGrpSpPr>
      <p:grpSpPr/>
      <p:sp>
        <p:nvSpPr>
          <p:cNvPr id="2" name="TextBox 1"/>
          <p:cNvSpPr txBox="1"/>
          <p:nvPr/>
        </p:nvSpPr>
        <p:spPr>
          <a:xfrm>
            <a:off x="566928" y="384048"/>
            <a:ext cx="8229600" cy="292608"/>
          </a:xfrm>
          <a:prstGeom prst="rect">
            <a:avLst/>
          </a:prstGeom>
          <a:noFill/>
        </p:spPr>
        <p:txBody>
          <a:bodyPr wrap="square">
            <a:spAutoFit/>
          </a:bodyPr>
          <a:lstStyle/>
          <a:p>
            <a:pPr algn="l"/>
            <a:r>
              <a:rPr sz="1000" b="1">
                <a:solidFill>
                  <a:srgbClr val="767D88"/>
                </a:solidFill>
                <a:latin typeface="Roboto Mono"/>
              </a:rPr>
              <a:t>SLIDE 18     Q&amp;A PREP — DO NOT PRESENT</a:t>
            </a:r>
          </a:p>
        </p:txBody>
      </p:sp>
      <p:sp>
        <p:nvSpPr>
          <p:cNvPr id="3" name="TextBox 2"/>
          <p:cNvSpPr txBox="1"/>
          <p:nvPr/>
        </p:nvSpPr>
        <p:spPr>
          <a:xfrm>
            <a:off x="566928" y="777240"/>
            <a:ext cx="11064240" cy="1097280"/>
          </a:xfrm>
          <a:prstGeom prst="rect">
            <a:avLst/>
          </a:prstGeom>
          <a:noFill/>
        </p:spPr>
        <p:txBody>
          <a:bodyPr wrap="square">
            <a:spAutoFit/>
          </a:bodyPr>
          <a:lstStyle/>
          <a:p>
            <a:pPr algn="l">
              <a:spcAft>
                <a:spcPts val="600"/>
              </a:spcAft>
            </a:pPr>
            <a:r>
              <a:rPr sz="3000" b="1">
                <a:solidFill>
                  <a:srgbClr val="FFFFFF"/>
                </a:solidFill>
                <a:latin typeface="Roboto"/>
              </a:rPr>
              <a:t>Questions I expect</a:t>
            </a:r>
          </a:p>
        </p:txBody>
      </p:sp>
      <p:sp>
        <p:nvSpPr>
          <p:cNvPr id="4" name="TextBox 3"/>
          <p:cNvSpPr txBox="1"/>
          <p:nvPr/>
        </p:nvSpPr>
        <p:spPr>
          <a:xfrm>
            <a:off x="566928" y="1371600"/>
            <a:ext cx="11064240" cy="5120640"/>
          </a:xfrm>
          <a:prstGeom prst="rect">
            <a:avLst/>
          </a:prstGeom>
          <a:noFill/>
        </p:spPr>
        <p:txBody>
          <a:bodyPr wrap="square">
            <a:spAutoFit/>
          </a:bodyPr>
          <a:lstStyle/>
          <a:p>
            <a:pPr algn="l">
              <a:spcAft>
                <a:spcPts val="700"/>
              </a:spcAft>
            </a:pPr>
            <a:r>
              <a:rPr sz="1100" b="1">
                <a:solidFill>
                  <a:srgbClr val="3ECF8E"/>
                </a:solidFill>
                <a:latin typeface="Roboto"/>
              </a:rPr>
              <a:t>Why not an LSTM or a transformer?  </a:t>
            </a:r>
            <a:r>
              <a:rPr sz="1000">
                <a:solidFill>
                  <a:srgbClr val="99A0AB"/>
                </a:solidFill>
                <a:latin typeface="Roboto"/>
              </a:rPr>
              <a:t>20k rows / 70 columns is where boosting wins on tabular data. And the ridge control is the stronger answer — if a LINEAR model ties boosting, the return from a more expressive class is small. The constraint is information, not capacity.</a:t>
            </a:r>
          </a:p>
          <a:p>
            <a:pPr>
              <a:spcAft>
                <a:spcPts val="700"/>
              </a:spcAft>
            </a:pPr>
            <a:r>
              <a:rPr sz="1100" b="1">
                <a:solidFill>
                  <a:srgbClr val="3ECF8E"/>
                </a:solidFill>
                <a:latin typeface="Roboto"/>
              </a:rPr>
              <a:t>Why MAE rather than RMSE?  </a:t>
            </a:r>
            <a:r>
              <a:rPr sz="1000">
                <a:solidFill>
                  <a:srgbClr val="99A0AB"/>
                </a:solidFill>
                <a:latin typeface="Roboto"/>
              </a:rPr>
              <a:t>Both are reported. MAE leads because the tail reaches €707, so RMSE is dominated by a few spikes. Note this cuts against me — shrinkage means RMSE is where the model looks worst, and I show that table.</a:t>
            </a:r>
          </a:p>
          <a:p>
            <a:pPr>
              <a:spcAft>
                <a:spcPts val="700"/>
              </a:spcAft>
            </a:pPr>
            <a:r>
              <a:rPr sz="1100" b="1">
                <a:solidFill>
                  <a:srgbClr val="3ECF8E"/>
                </a:solidFill>
                <a:latin typeface="Roboto"/>
              </a:rPr>
              <a:t>How do you know there is no leakage left?  </a:t>
            </a:r>
            <a:r>
              <a:rPr sz="1000">
                <a:solidFill>
                  <a:srgbClr val="99A0AB"/>
                </a:solidFill>
                <a:latin typeface="Roboto"/>
              </a:rPr>
              <a:t>I do not — I have an audit that refuses to build if any feature reaches past the cutoff, and it caught three real bugs. Evidence, not proof. The best indirect sign is that the numbers are unglamorous.</a:t>
            </a:r>
          </a:p>
          <a:p>
            <a:pPr>
              <a:spcAft>
                <a:spcPts val="700"/>
              </a:spcAft>
            </a:pPr>
            <a:r>
              <a:rPr sz="1100" b="1">
                <a:solidFill>
                  <a:srgbClr val="3ECF8E"/>
                </a:solidFill>
                <a:latin typeface="Roboto"/>
              </a:rPr>
              <a:t>If ridge ties, why ship boosting?  </a:t>
            </a:r>
            <a:r>
              <a:rPr sz="1000">
                <a:solidFill>
                  <a:srgbClr val="99A0AB"/>
                </a:solidFill>
                <a:latin typeface="Roboto"/>
              </a:rPr>
              <a:t>Stability, explicitly not accuracy. Fold spread 1.92 vs 3.13, worst fold 22.2 vs 24.2. Ridge has both the best fold and the worst. If you disagree, ridge is defensible and is in the repo.</a:t>
            </a:r>
          </a:p>
          <a:p>
            <a:pPr>
              <a:spcAft>
                <a:spcPts val="700"/>
              </a:spcAft>
            </a:pPr>
            <a:r>
              <a:rPr sz="1100" b="1">
                <a:solidFill>
                  <a:srgbClr val="3ECF8E"/>
                </a:solidFill>
                <a:latin typeface="Roboto"/>
              </a:rPr>
              <a:t>Is a 69 EUR/MWh interval useful?  </a:t>
            </a:r>
            <a:r>
              <a:rPr sz="1000">
                <a:solidFill>
                  <a:srgbClr val="99A0AB"/>
                </a:solidFill>
                <a:latin typeface="Roboto"/>
              </a:rPr>
              <a:t>Marginal, and I say so. It is calibrated but about as wide as the price level. The width IS the uncertainty — narrowing it means a better model, not a different interval method.</a:t>
            </a:r>
          </a:p>
          <a:p>
            <a:pPr>
              <a:spcAft>
                <a:spcPts val="700"/>
              </a:spcAft>
            </a:pPr>
            <a:r>
              <a:rPr sz="1100" b="1">
                <a:solidFill>
                  <a:srgbClr val="3ECF8E"/>
                </a:solidFill>
                <a:latin typeface="Roboto"/>
              </a:rPr>
              <a:t>Is the 62-day window a production risk?  </a:t>
            </a:r>
            <a:r>
              <a:rPr sz="1000">
                <a:solidFill>
                  <a:srgbClr val="99A0AB"/>
                </a:solidFill>
                <a:latin typeface="Roboto"/>
              </a:rPr>
              <a:t>For training it is why a second source exists. For production, no — the daily job only fetches the newest day. The real answer is the paid partner API the company already uses.</a:t>
            </a:r>
          </a:p>
          <a:p>
            <a:pPr>
              <a:spcAft>
                <a:spcPts val="700"/>
              </a:spcAft>
            </a:pPr>
            <a:r>
              <a:rPr sz="1100" b="1">
                <a:solidFill>
                  <a:srgbClr val="3ECF8E"/>
                </a:solidFill>
                <a:latin typeface="Roboto"/>
              </a:rPr>
              <a:t>How would this deploy?  </a:t>
            </a:r>
            <a:r>
              <a:rPr sz="1000">
                <a:solidFill>
                  <a:srgbClr val="99A0AB"/>
                </a:solidFill>
                <a:latin typeface="Roboto"/>
              </a:rPr>
              <a:t>Ingestion already runs on Dagster with daily partitions, retries, idempotent writes. Missing: a scheduled inference asset at 11:00, model versioning, monitoring on realised error. Retrain monthly to match the folds.</a:t>
            </a:r>
          </a:p>
          <a:p>
            <a:pPr>
              <a:spcAft>
                <a:spcPts val="700"/>
              </a:spcAft>
            </a:pPr>
            <a:r>
              <a:rPr sz="1100" b="1">
                <a:solidFill>
                  <a:srgbClr val="3ECF8E"/>
                </a:solidFill>
                <a:latin typeface="Roboto"/>
              </a:rPr>
              <a:t>Is the bootstrap valid given autocorrelation?  </a:t>
            </a:r>
            <a:r>
              <a:rPr sz="1000">
                <a:solidFill>
                  <a:srgbClr val="99A0AB"/>
                </a:solidFill>
                <a:latin typeface="Roboto"/>
              </a:rPr>
              <a:t>That is why it resamples WHOLE DAYS — hourly resampling would overstate evidence ~24×. Within-day correlation is absorbed by keeping the day intact. Across days I assume exchangeability.</a:t>
            </a:r>
          </a:p>
          <a:p>
            <a:pPr>
              <a:spcAft>
                <a:spcPts val="700"/>
              </a:spcAft>
            </a:pPr>
            <a:r>
              <a:rPr sz="1100" b="1">
                <a:solidFill>
                  <a:srgbClr val="3ECF8E"/>
                </a:solidFill>
                <a:latin typeface="Roboto"/>
              </a:rPr>
              <a:t>What is 6.7 EUR/MWh worth in money?  </a:t>
            </a:r>
            <a:r>
              <a:rPr sz="1000">
                <a:solidFill>
                  <a:srgbClr val="99A0AB"/>
                </a:solidFill>
                <a:latin typeface="Roboto"/>
              </a:rPr>
              <a:t>Deliberately not converted — it depends on volume and how the forecast enters the bid. The shape matters: the gain is zero at the extremes, so error × volume × hours would overstate it for spike-exposed positions.</a:t>
            </a:r>
          </a:p>
          <a:p>
            <a:pPr>
              <a:spcAft>
                <a:spcPts val="700"/>
              </a:spcAft>
            </a:pPr>
            <a:r>
              <a:rPr sz="1100" b="1">
                <a:solidFill>
                  <a:srgbClr val="3ECF8E"/>
                </a:solidFill>
                <a:latin typeface="Roboto"/>
              </a:rPr>
              <a:t>Why SE3 only?  </a:t>
            </a:r>
            <a:r>
              <a:rPr sz="1000">
                <a:solidFill>
                  <a:srgbClr val="99A0AB"/>
                </a:solidFill>
                <a:latin typeface="Roboto"/>
              </a:rPr>
              <a:t>Scope. All four zones are ingested and used as predictors. Extending the target is mechanical, not conceptual, but quadruples the reporting surface. On the open-questions list.</a:t>
            </a:r>
          </a:p>
          <a:p>
            <a:pPr>
              <a:spcAft>
                <a:spcPts val="700"/>
              </a:spcAft>
            </a:pPr>
            <a:r>
              <a:rPr sz="1100" b="1">
                <a:solidFill>
                  <a:srgbClr val="3ECF8E"/>
                </a:solidFill>
                <a:latin typeface="Roboto"/>
              </a:rPr>
              <a:t>Why hourly when the market is 15-minute?  </a:t>
            </a:r>
            <a:r>
              <a:rPr sz="1000">
                <a:solidFill>
                  <a:srgbClr val="99A0AB"/>
                </a:solidFill>
                <a:latin typeface="Roboto"/>
              </a:rPr>
              <a:t>The warehouse keeps native resolution. Three years of history is hourly, so 15-minute modelling means discarding history or fabricating detail. Revisit once enough 15-minute history exists.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